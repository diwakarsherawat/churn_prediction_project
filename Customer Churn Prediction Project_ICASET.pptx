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8" roundtripDataSignature="AMtx7mgtIad/Vy5rJhN+pqks1PTFvxUQJ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a0fbd53754_0_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g3a0fbd53754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0fbd53754_0_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g3a0fbd53754_0_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1"/>
          <p:cNvSpPr>
            <a:spLocks noGrp="1"/>
          </p:cNvSpPr>
          <p:nvPr>
            <p:ph type="pic" idx="2"/>
          </p:nvPr>
        </p:nvSpPr>
        <p:spPr>
          <a:xfrm>
            <a:off x="5183188" y="987425"/>
            <a:ext cx="6172200" cy="4873625"/>
          </a:xfrm>
          <a:prstGeom prst="rect">
            <a:avLst/>
          </a:prstGeom>
          <a:noFill/>
          <a:ln>
            <a:noFill/>
          </a:ln>
        </p:spPr>
      </p:sp>
      <p:sp>
        <p:nvSpPr>
          <p:cNvPr id="68" name="Google Shape;68;p2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subTitle" idx="1"/>
          </p:nvPr>
        </p:nvSpPr>
        <p:spPr>
          <a:xfrm>
            <a:off x="174595" y="1750741"/>
            <a:ext cx="11842810" cy="4703128"/>
          </a:xfrm>
          <a:prstGeom prst="rect">
            <a:avLst/>
          </a:prstGeom>
          <a:noFill/>
          <a:ln>
            <a:noFill/>
          </a:ln>
        </p:spPr>
        <p:txBody>
          <a:bodyPr spcFirstLastPara="1" wrap="square" lIns="91425" tIns="45700" rIns="91425" bIns="45700" anchor="t" anchorCtr="0">
            <a:normAutofit fontScale="92500" lnSpcReduction="20000"/>
          </a:bodyPr>
          <a:lstStyle/>
          <a:p>
            <a:pPr marL="0" lvl="0" indent="0" algn="ctr" rtl="0">
              <a:lnSpc>
                <a:spcPct val="90000"/>
              </a:lnSpc>
              <a:spcBef>
                <a:spcPts val="0"/>
              </a:spcBef>
              <a:spcAft>
                <a:spcPts val="0"/>
              </a:spcAft>
              <a:buClr>
                <a:schemeClr val="dk1"/>
              </a:buClr>
              <a:buSzPct val="100000"/>
              <a:buNone/>
            </a:pPr>
            <a:endParaRPr sz="1400" dirty="0">
              <a:latin typeface="Comic Sans MS"/>
              <a:ea typeface="Comic Sans MS"/>
              <a:cs typeface="Comic Sans MS"/>
              <a:sym typeface="Comic Sans MS"/>
            </a:endParaRPr>
          </a:p>
          <a:p>
            <a:pPr marL="0" lvl="0" indent="0" algn="ctr" rtl="0">
              <a:lnSpc>
                <a:spcPct val="90000"/>
              </a:lnSpc>
              <a:spcBef>
                <a:spcPts val="1000"/>
              </a:spcBef>
              <a:spcAft>
                <a:spcPts val="0"/>
              </a:spcAft>
              <a:buClr>
                <a:schemeClr val="dk1"/>
              </a:buClr>
              <a:buSzPct val="100000"/>
              <a:buNone/>
            </a:pPr>
            <a:endParaRPr sz="1400" dirty="0">
              <a:latin typeface="Comic Sans MS"/>
              <a:ea typeface="Comic Sans MS"/>
              <a:cs typeface="Comic Sans MS"/>
              <a:sym typeface="Comic Sans MS"/>
            </a:endParaRPr>
          </a:p>
          <a:p>
            <a:pPr marL="0" lvl="0" indent="0" algn="ctr" rtl="0">
              <a:lnSpc>
                <a:spcPct val="90000"/>
              </a:lnSpc>
              <a:spcBef>
                <a:spcPts val="1000"/>
              </a:spcBef>
              <a:spcAft>
                <a:spcPts val="0"/>
              </a:spcAft>
              <a:buClr>
                <a:schemeClr val="dk1"/>
              </a:buClr>
              <a:buSzPct val="43750"/>
              <a:buNone/>
            </a:pPr>
            <a:r>
              <a:rPr lang="en-IN" sz="3200" b="1" dirty="0">
                <a:latin typeface="Arial"/>
                <a:ea typeface="Arial"/>
                <a:cs typeface="Arial"/>
                <a:sym typeface="Arial"/>
              </a:rPr>
              <a:t>Customer Churn Prediction Project</a:t>
            </a:r>
            <a:endParaRPr sz="3200" b="1" dirty="0">
              <a:latin typeface="Arial"/>
              <a:ea typeface="Arial"/>
              <a:cs typeface="Arial"/>
              <a:sym typeface="Arial"/>
            </a:endParaRPr>
          </a:p>
          <a:p>
            <a:pPr marL="0" lvl="0" indent="0" algn="ctr" rtl="0">
              <a:lnSpc>
                <a:spcPct val="90000"/>
              </a:lnSpc>
              <a:spcBef>
                <a:spcPts val="1000"/>
              </a:spcBef>
              <a:spcAft>
                <a:spcPts val="0"/>
              </a:spcAft>
              <a:buClr>
                <a:schemeClr val="dk1"/>
              </a:buClr>
              <a:buSzPct val="43750"/>
              <a:buNone/>
            </a:pPr>
            <a:endParaRPr sz="3200" dirty="0">
              <a:latin typeface="Arial"/>
              <a:ea typeface="Arial"/>
              <a:cs typeface="Arial"/>
              <a:sym typeface="Arial"/>
            </a:endParaRPr>
          </a:p>
          <a:p>
            <a:pPr marL="0" lvl="0" indent="0" algn="ctr" rtl="0">
              <a:lnSpc>
                <a:spcPct val="90000"/>
              </a:lnSpc>
              <a:spcBef>
                <a:spcPts val="1000"/>
              </a:spcBef>
              <a:spcAft>
                <a:spcPts val="0"/>
              </a:spcAft>
              <a:buClr>
                <a:schemeClr val="dk1"/>
              </a:buClr>
              <a:buSzPct val="100000"/>
              <a:buNone/>
            </a:pPr>
            <a:r>
              <a:rPr lang="en-IN" sz="1800" b="1" dirty="0">
                <a:latin typeface="Arial"/>
                <a:ea typeface="Arial"/>
                <a:cs typeface="Arial"/>
                <a:sym typeface="Arial"/>
              </a:rPr>
              <a:t>Authors:</a:t>
            </a:r>
          </a:p>
          <a:p>
            <a:pPr marL="0" indent="0">
              <a:buSzPct val="100000"/>
            </a:pPr>
            <a:r>
              <a:rPr lang="en-IN" sz="1800" dirty="0">
                <a:latin typeface="Arial"/>
                <a:ea typeface="Arial"/>
                <a:cs typeface="Arial"/>
                <a:sym typeface="Arial"/>
              </a:rPr>
              <a:t>Monica Luthra</a:t>
            </a:r>
            <a:endParaRPr sz="1800" b="1" dirty="0">
              <a:latin typeface="Arial"/>
              <a:ea typeface="Arial"/>
              <a:cs typeface="Arial"/>
              <a:sym typeface="Arial"/>
            </a:endParaRPr>
          </a:p>
          <a:p>
            <a:pPr marL="0" lvl="0" indent="0" algn="ctr" rtl="0">
              <a:lnSpc>
                <a:spcPct val="90000"/>
              </a:lnSpc>
              <a:spcBef>
                <a:spcPts val="1000"/>
              </a:spcBef>
              <a:spcAft>
                <a:spcPts val="0"/>
              </a:spcAft>
              <a:buClr>
                <a:schemeClr val="dk1"/>
              </a:buClr>
              <a:buSzPct val="100000"/>
              <a:buNone/>
            </a:pPr>
            <a:r>
              <a:rPr lang="en-IN" sz="1800" dirty="0">
                <a:latin typeface="Arial"/>
                <a:ea typeface="Arial"/>
                <a:cs typeface="Arial"/>
                <a:sym typeface="Arial"/>
              </a:rPr>
              <a:t>Sneha Narwal</a:t>
            </a:r>
            <a:endParaRPr sz="1800" dirty="0">
              <a:latin typeface="Arial"/>
              <a:ea typeface="Arial"/>
              <a:cs typeface="Arial"/>
              <a:sym typeface="Arial"/>
            </a:endParaRPr>
          </a:p>
          <a:p>
            <a:pPr marL="0" lvl="0" indent="0" algn="ctr" rtl="0">
              <a:lnSpc>
                <a:spcPct val="90000"/>
              </a:lnSpc>
              <a:spcBef>
                <a:spcPts val="1000"/>
              </a:spcBef>
              <a:spcAft>
                <a:spcPts val="0"/>
              </a:spcAft>
              <a:buClr>
                <a:schemeClr val="dk1"/>
              </a:buClr>
              <a:buSzPct val="100000"/>
              <a:buNone/>
            </a:pPr>
            <a:r>
              <a:rPr lang="en-IN" sz="1800" dirty="0">
                <a:latin typeface="Arial"/>
                <a:ea typeface="Arial"/>
                <a:cs typeface="Arial"/>
                <a:sym typeface="Arial"/>
              </a:rPr>
              <a:t>Diwakar Sherawat</a:t>
            </a:r>
            <a:endParaRPr sz="1800" dirty="0">
              <a:latin typeface="Arial"/>
              <a:ea typeface="Arial"/>
              <a:cs typeface="Arial"/>
              <a:sym typeface="Arial"/>
            </a:endParaRPr>
          </a:p>
          <a:p>
            <a:pPr marL="0" lvl="0" indent="0" algn="ctr" rtl="0">
              <a:lnSpc>
                <a:spcPct val="90000"/>
              </a:lnSpc>
              <a:spcBef>
                <a:spcPts val="1000"/>
              </a:spcBef>
              <a:spcAft>
                <a:spcPts val="0"/>
              </a:spcAft>
              <a:buClr>
                <a:schemeClr val="dk1"/>
              </a:buClr>
              <a:buSzPct val="100000"/>
              <a:buNone/>
            </a:pPr>
            <a:r>
              <a:rPr lang="en-IN" sz="1800" dirty="0">
                <a:latin typeface="Arial"/>
                <a:ea typeface="Arial"/>
                <a:cs typeface="Arial"/>
                <a:sym typeface="Arial"/>
              </a:rPr>
              <a:t>Shruti Gupta</a:t>
            </a:r>
            <a:endParaRPr sz="1800" dirty="0">
              <a:latin typeface="Arial"/>
              <a:ea typeface="Arial"/>
              <a:cs typeface="Arial"/>
              <a:sym typeface="Arial"/>
            </a:endParaRPr>
          </a:p>
          <a:p>
            <a:pPr marL="0" lvl="0" indent="0" algn="ctr" rtl="0">
              <a:lnSpc>
                <a:spcPct val="90000"/>
              </a:lnSpc>
              <a:spcBef>
                <a:spcPts val="1000"/>
              </a:spcBef>
              <a:spcAft>
                <a:spcPts val="0"/>
              </a:spcAft>
              <a:buClr>
                <a:schemeClr val="dk1"/>
              </a:buClr>
              <a:buSzPct val="100000"/>
              <a:buNone/>
            </a:pPr>
            <a:r>
              <a:rPr lang="en-IN" sz="1800" dirty="0">
                <a:latin typeface="Arial"/>
                <a:ea typeface="Arial"/>
                <a:cs typeface="Arial"/>
                <a:sym typeface="Arial"/>
              </a:rPr>
              <a:t>Rony Biju</a:t>
            </a:r>
            <a:endParaRPr sz="1800" dirty="0">
              <a:latin typeface="Arial"/>
              <a:ea typeface="Arial"/>
              <a:cs typeface="Arial"/>
              <a:sym typeface="Arial"/>
            </a:endParaRPr>
          </a:p>
          <a:p>
            <a:pPr marL="0" lvl="0" indent="0" algn="ctr" rtl="0">
              <a:lnSpc>
                <a:spcPct val="90000"/>
              </a:lnSpc>
              <a:spcBef>
                <a:spcPts val="1000"/>
              </a:spcBef>
              <a:spcAft>
                <a:spcPts val="0"/>
              </a:spcAft>
              <a:buClr>
                <a:schemeClr val="dk1"/>
              </a:buClr>
              <a:buSzPct val="100000"/>
              <a:buNone/>
            </a:pPr>
            <a:r>
              <a:rPr lang="en-IN" sz="1800" dirty="0">
                <a:latin typeface="Arial"/>
                <a:ea typeface="Arial"/>
                <a:cs typeface="Arial"/>
                <a:sym typeface="Arial"/>
              </a:rPr>
              <a:t>Abhay Manhas</a:t>
            </a:r>
          </a:p>
          <a:p>
            <a:pPr marL="0" lvl="0" indent="0" algn="l" rtl="0">
              <a:lnSpc>
                <a:spcPct val="90000"/>
              </a:lnSpc>
              <a:spcBef>
                <a:spcPts val="1000"/>
              </a:spcBef>
              <a:spcAft>
                <a:spcPts val="0"/>
              </a:spcAft>
              <a:buClr>
                <a:schemeClr val="dk1"/>
              </a:buClr>
              <a:buSzPct val="100000"/>
              <a:buNone/>
            </a:pPr>
            <a:endParaRPr sz="1800" dirty="0">
              <a:latin typeface="Arial"/>
              <a:ea typeface="Arial"/>
              <a:cs typeface="Arial"/>
              <a:sym typeface="Arial"/>
            </a:endParaRPr>
          </a:p>
          <a:p>
            <a:pPr marL="0" lvl="0" indent="0" algn="ctr" rtl="0">
              <a:lnSpc>
                <a:spcPct val="90000"/>
              </a:lnSpc>
              <a:spcBef>
                <a:spcPts val="1000"/>
              </a:spcBef>
              <a:spcAft>
                <a:spcPts val="0"/>
              </a:spcAft>
              <a:buClr>
                <a:schemeClr val="dk1"/>
              </a:buClr>
              <a:buSzPct val="100000"/>
              <a:buNone/>
            </a:pPr>
            <a:r>
              <a:rPr lang="en-IN" sz="1800" b="1" dirty="0">
                <a:latin typeface="Arial"/>
                <a:ea typeface="Arial"/>
                <a:cs typeface="Arial"/>
                <a:sym typeface="Arial"/>
              </a:rPr>
              <a:t>Affiliation of Presenting Author:</a:t>
            </a:r>
            <a:endParaRPr sz="1800" b="1" dirty="0">
              <a:latin typeface="Arial"/>
              <a:ea typeface="Arial"/>
              <a:cs typeface="Arial"/>
              <a:sym typeface="Arial"/>
            </a:endParaRPr>
          </a:p>
          <a:p>
            <a:pPr marL="0" lvl="0" indent="0" algn="ctr" rtl="0">
              <a:lnSpc>
                <a:spcPct val="90000"/>
              </a:lnSpc>
              <a:spcBef>
                <a:spcPts val="1000"/>
              </a:spcBef>
              <a:spcAft>
                <a:spcPts val="0"/>
              </a:spcAft>
              <a:buClr>
                <a:schemeClr val="dk1"/>
              </a:buClr>
              <a:buSzPct val="100000"/>
              <a:buNone/>
            </a:pPr>
            <a:r>
              <a:rPr lang="en-IN" sz="1800" dirty="0">
                <a:latin typeface="Arial"/>
                <a:ea typeface="Arial"/>
                <a:cs typeface="Arial"/>
                <a:sym typeface="Arial"/>
              </a:rPr>
              <a:t>Chandigarh University</a:t>
            </a:r>
            <a:endParaRPr sz="1800" dirty="0">
              <a:latin typeface="Arial"/>
              <a:ea typeface="Arial"/>
              <a:cs typeface="Arial"/>
              <a:sym typeface="Arial"/>
            </a:endParaRPr>
          </a:p>
          <a:p>
            <a:pPr marL="0" lvl="0" indent="0" algn="ctr" rtl="0">
              <a:lnSpc>
                <a:spcPct val="90000"/>
              </a:lnSpc>
              <a:spcBef>
                <a:spcPts val="1000"/>
              </a:spcBef>
              <a:spcAft>
                <a:spcPts val="0"/>
              </a:spcAft>
              <a:buClr>
                <a:schemeClr val="dk1"/>
              </a:buClr>
              <a:buSzPct val="100000"/>
              <a:buNone/>
            </a:pPr>
            <a:endParaRPr sz="1400" dirty="0">
              <a:latin typeface="Comic Sans MS"/>
              <a:ea typeface="Comic Sans MS"/>
              <a:cs typeface="Comic Sans MS"/>
              <a:sym typeface="Comic Sans MS"/>
            </a:endParaRPr>
          </a:p>
          <a:p>
            <a:pPr marL="0" lvl="0" indent="0" algn="ctr" rtl="0">
              <a:lnSpc>
                <a:spcPct val="90000"/>
              </a:lnSpc>
              <a:spcBef>
                <a:spcPts val="1000"/>
              </a:spcBef>
              <a:spcAft>
                <a:spcPts val="0"/>
              </a:spcAft>
              <a:buClr>
                <a:schemeClr val="dk1"/>
              </a:buClr>
              <a:buSzPct val="100000"/>
              <a:buNone/>
            </a:pPr>
            <a:endParaRPr sz="1400" dirty="0">
              <a:latin typeface="Comic Sans MS"/>
              <a:ea typeface="Comic Sans MS"/>
              <a:cs typeface="Comic Sans MS"/>
              <a:sym typeface="Comic Sans MS"/>
            </a:endParaRPr>
          </a:p>
        </p:txBody>
      </p:sp>
      <p:sp>
        <p:nvSpPr>
          <p:cNvPr id="89" name="Google Shape;89;p1"/>
          <p:cNvSpPr txBox="1"/>
          <p:nvPr/>
        </p:nvSpPr>
        <p:spPr>
          <a:xfrm>
            <a:off x="174595" y="119525"/>
            <a:ext cx="11704018" cy="16312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cap="none">
                <a:solidFill>
                  <a:srgbClr val="FF0000"/>
                </a:solidFill>
                <a:latin typeface="Calibri"/>
                <a:ea typeface="Calibri"/>
                <a:cs typeface="Calibri"/>
                <a:sym typeface="Calibri"/>
              </a:rPr>
              <a:t>                              International Conference on Advanced Systems and Emerging Technologies- ICASET 2025</a:t>
            </a:r>
            <a:endParaRPr/>
          </a:p>
          <a:p>
            <a:pPr marL="0" marR="0" lvl="0" indent="0" algn="ctr" rtl="0">
              <a:spcBef>
                <a:spcPts val="0"/>
              </a:spcBef>
              <a:spcAft>
                <a:spcPts val="0"/>
              </a:spcAft>
              <a:buNone/>
            </a:pPr>
            <a:r>
              <a:rPr lang="en-IN" sz="2400" b="1" i="0" u="none" strike="noStrike" cap="none">
                <a:solidFill>
                  <a:srgbClr val="0070C0"/>
                </a:solidFill>
                <a:latin typeface="Calibri"/>
                <a:ea typeface="Calibri"/>
                <a:cs typeface="Calibri"/>
                <a:sym typeface="Calibri"/>
              </a:rPr>
              <a:t>06</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-07</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November 2025</a:t>
            </a:r>
            <a:endParaRPr/>
          </a:p>
          <a:p>
            <a:pPr marL="0" marR="0" lvl="0" indent="0" algn="ctr" rtl="0">
              <a:spcBef>
                <a:spcPts val="0"/>
              </a:spcBef>
              <a:spcAft>
                <a:spcPts val="0"/>
              </a:spcAft>
              <a:buNone/>
            </a:pPr>
            <a:endParaRPr sz="2800" b="0" i="0" u="none" strike="noStrike" cap="none">
              <a:solidFill>
                <a:srgbClr val="FF0000"/>
              </a:solidFill>
              <a:latin typeface="Calibri"/>
              <a:ea typeface="Calibri"/>
              <a:cs typeface="Calibri"/>
              <a:sym typeface="Calibri"/>
            </a:endParaRPr>
          </a:p>
        </p:txBody>
      </p:sp>
      <p:pic>
        <p:nvPicPr>
          <p:cNvPr id="90" name="Google Shape;90;p1"/>
          <p:cNvPicPr preferRelativeResize="0"/>
          <p:nvPr/>
        </p:nvPicPr>
        <p:blipFill rotWithShape="1">
          <a:blip r:embed="rId3">
            <a:alphaModFix/>
          </a:blip>
          <a:srcRect/>
          <a:stretch/>
        </p:blipFill>
        <p:spPr>
          <a:xfrm>
            <a:off x="0" y="0"/>
            <a:ext cx="2849335" cy="112667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subTitle" idx="1"/>
          </p:nvPr>
        </p:nvSpPr>
        <p:spPr>
          <a:xfrm>
            <a:off x="461650" y="1853850"/>
            <a:ext cx="11407800" cy="4538100"/>
          </a:xfrm>
          <a:prstGeom prst="rect">
            <a:avLst/>
          </a:prstGeom>
          <a:noFill/>
          <a:ln>
            <a:noFill/>
          </a:ln>
        </p:spPr>
        <p:txBody>
          <a:bodyPr spcFirstLastPara="1" wrap="square" lIns="91425" tIns="45700" rIns="91425" bIns="45700" anchor="t" anchorCtr="0">
            <a:normAutofit fontScale="62500" lnSpcReduction="20000"/>
          </a:bodyPr>
          <a:lstStyle/>
          <a:p>
            <a:pPr marL="0" lvl="0" indent="0" algn="l" rtl="0">
              <a:lnSpc>
                <a:spcPct val="90000"/>
              </a:lnSpc>
              <a:spcBef>
                <a:spcPts val="0"/>
              </a:spcBef>
              <a:spcAft>
                <a:spcPts val="0"/>
              </a:spcAft>
              <a:buClr>
                <a:schemeClr val="dk1"/>
              </a:buClr>
              <a:buSzPct val="47524"/>
              <a:buNone/>
            </a:pPr>
            <a:r>
              <a:rPr lang="en-IN" sz="5050">
                <a:latin typeface="Comic Sans MS"/>
                <a:ea typeface="Comic Sans MS"/>
                <a:cs typeface="Comic Sans MS"/>
                <a:sym typeface="Comic Sans MS"/>
              </a:rPr>
              <a:t> </a:t>
            </a:r>
            <a:r>
              <a:rPr lang="en-IN" sz="5050" b="1">
                <a:latin typeface="Arial"/>
                <a:ea typeface="Arial"/>
                <a:cs typeface="Arial"/>
                <a:sym typeface="Arial"/>
              </a:rPr>
              <a:t>INDEX:</a:t>
            </a:r>
            <a:endParaRPr sz="5050" b="1">
              <a:latin typeface="Arial"/>
              <a:ea typeface="Arial"/>
              <a:cs typeface="Arial"/>
              <a:sym typeface="Arial"/>
            </a:endParaRPr>
          </a:p>
          <a:p>
            <a:pPr marL="0" lvl="0" indent="0" algn="l" rtl="0">
              <a:lnSpc>
                <a:spcPct val="90000"/>
              </a:lnSpc>
              <a:spcBef>
                <a:spcPts val="0"/>
              </a:spcBef>
              <a:spcAft>
                <a:spcPts val="0"/>
              </a:spcAft>
              <a:buClr>
                <a:schemeClr val="dk1"/>
              </a:buClr>
              <a:buSzPct val="100000"/>
              <a:buNone/>
            </a:pPr>
            <a:endParaRPr>
              <a:latin typeface="Comic Sans MS"/>
              <a:ea typeface="Comic Sans MS"/>
              <a:cs typeface="Comic Sans MS"/>
              <a:sym typeface="Comic Sans MS"/>
            </a:endParaRPr>
          </a:p>
          <a:p>
            <a:pPr marL="0" lvl="0" indent="0" algn="l" rtl="0">
              <a:lnSpc>
                <a:spcPct val="100000"/>
              </a:lnSpc>
              <a:spcBef>
                <a:spcPts val="0"/>
              </a:spcBef>
              <a:spcAft>
                <a:spcPts val="0"/>
              </a:spcAft>
              <a:buNone/>
            </a:pPr>
            <a:endParaRPr sz="3500">
              <a:latin typeface="Arial"/>
              <a:ea typeface="Arial"/>
              <a:cs typeface="Arial"/>
              <a:sym typeface="Arial"/>
            </a:endParaRPr>
          </a:p>
          <a:p>
            <a:pPr marL="0" lvl="0" indent="0" algn="l" rtl="0">
              <a:lnSpc>
                <a:spcPct val="150000"/>
              </a:lnSpc>
              <a:spcBef>
                <a:spcPts val="0"/>
              </a:spcBef>
              <a:spcAft>
                <a:spcPts val="0"/>
              </a:spcAft>
              <a:buNone/>
            </a:pPr>
            <a:r>
              <a:rPr lang="en-IN" sz="3224">
                <a:latin typeface="Arial"/>
                <a:ea typeface="Arial"/>
                <a:cs typeface="Arial"/>
                <a:sym typeface="Arial"/>
              </a:rPr>
              <a:t>1. Abstract</a:t>
            </a:r>
            <a:endParaRPr sz="3224">
              <a:latin typeface="Arial"/>
              <a:ea typeface="Arial"/>
              <a:cs typeface="Arial"/>
              <a:sym typeface="Arial"/>
            </a:endParaRPr>
          </a:p>
          <a:p>
            <a:pPr marL="0" lvl="0" indent="0" algn="l" rtl="0">
              <a:lnSpc>
                <a:spcPct val="150000"/>
              </a:lnSpc>
              <a:spcBef>
                <a:spcPts val="0"/>
              </a:spcBef>
              <a:spcAft>
                <a:spcPts val="0"/>
              </a:spcAft>
              <a:buNone/>
            </a:pPr>
            <a:r>
              <a:rPr lang="en-IN" sz="3224">
                <a:latin typeface="Arial"/>
                <a:ea typeface="Arial"/>
                <a:cs typeface="Arial"/>
                <a:sym typeface="Arial"/>
              </a:rPr>
              <a:t>2. Introduction</a:t>
            </a:r>
            <a:endParaRPr sz="3224">
              <a:latin typeface="Arial"/>
              <a:ea typeface="Arial"/>
              <a:cs typeface="Arial"/>
              <a:sym typeface="Arial"/>
            </a:endParaRPr>
          </a:p>
          <a:p>
            <a:pPr marL="0" lvl="0" indent="0" algn="l" rtl="0">
              <a:lnSpc>
                <a:spcPct val="150000"/>
              </a:lnSpc>
              <a:spcBef>
                <a:spcPts val="0"/>
              </a:spcBef>
              <a:spcAft>
                <a:spcPts val="0"/>
              </a:spcAft>
              <a:buNone/>
            </a:pPr>
            <a:r>
              <a:rPr lang="en-IN" sz="3224">
                <a:latin typeface="Arial"/>
                <a:ea typeface="Arial"/>
                <a:cs typeface="Arial"/>
                <a:sym typeface="Arial"/>
              </a:rPr>
              <a:t>3. Literature Review</a:t>
            </a:r>
            <a:endParaRPr sz="3224">
              <a:latin typeface="Arial"/>
              <a:ea typeface="Arial"/>
              <a:cs typeface="Arial"/>
              <a:sym typeface="Arial"/>
            </a:endParaRPr>
          </a:p>
          <a:p>
            <a:pPr marL="0" lvl="0" indent="0" algn="l" rtl="0">
              <a:lnSpc>
                <a:spcPct val="150000"/>
              </a:lnSpc>
              <a:spcBef>
                <a:spcPts val="0"/>
              </a:spcBef>
              <a:spcAft>
                <a:spcPts val="0"/>
              </a:spcAft>
              <a:buNone/>
            </a:pPr>
            <a:r>
              <a:rPr lang="en-IN" sz="3224">
                <a:latin typeface="Arial"/>
                <a:ea typeface="Arial"/>
                <a:cs typeface="Arial"/>
                <a:sym typeface="Arial"/>
              </a:rPr>
              <a:t>4. Research Gaps</a:t>
            </a:r>
            <a:endParaRPr sz="3224">
              <a:latin typeface="Arial"/>
              <a:ea typeface="Arial"/>
              <a:cs typeface="Arial"/>
              <a:sym typeface="Arial"/>
            </a:endParaRPr>
          </a:p>
          <a:p>
            <a:pPr marL="0" lvl="0" indent="0" algn="l" rtl="0">
              <a:lnSpc>
                <a:spcPct val="150000"/>
              </a:lnSpc>
              <a:spcBef>
                <a:spcPts val="0"/>
              </a:spcBef>
              <a:spcAft>
                <a:spcPts val="0"/>
              </a:spcAft>
              <a:buNone/>
            </a:pPr>
            <a:r>
              <a:rPr lang="en-IN" sz="3224">
                <a:latin typeface="Arial"/>
                <a:ea typeface="Arial"/>
                <a:cs typeface="Arial"/>
                <a:sym typeface="Arial"/>
              </a:rPr>
              <a:t>5. Proposed Methodology</a:t>
            </a:r>
            <a:endParaRPr sz="3224">
              <a:latin typeface="Arial"/>
              <a:ea typeface="Arial"/>
              <a:cs typeface="Arial"/>
              <a:sym typeface="Arial"/>
            </a:endParaRPr>
          </a:p>
          <a:p>
            <a:pPr marL="0" lvl="0" indent="0" algn="l" rtl="0">
              <a:lnSpc>
                <a:spcPct val="150000"/>
              </a:lnSpc>
              <a:spcBef>
                <a:spcPts val="0"/>
              </a:spcBef>
              <a:spcAft>
                <a:spcPts val="0"/>
              </a:spcAft>
              <a:buNone/>
            </a:pPr>
            <a:r>
              <a:rPr lang="en-IN" sz="3224">
                <a:latin typeface="Arial"/>
                <a:ea typeface="Arial"/>
                <a:cs typeface="Arial"/>
                <a:sym typeface="Arial"/>
              </a:rPr>
              <a:t>6. Results &amp; Discussion</a:t>
            </a:r>
            <a:endParaRPr sz="3224">
              <a:latin typeface="Arial"/>
              <a:ea typeface="Arial"/>
              <a:cs typeface="Arial"/>
              <a:sym typeface="Arial"/>
            </a:endParaRPr>
          </a:p>
          <a:p>
            <a:pPr marL="0" lvl="0" indent="0" algn="l" rtl="0">
              <a:lnSpc>
                <a:spcPct val="150000"/>
              </a:lnSpc>
              <a:spcBef>
                <a:spcPts val="0"/>
              </a:spcBef>
              <a:spcAft>
                <a:spcPts val="0"/>
              </a:spcAft>
              <a:buNone/>
            </a:pPr>
            <a:r>
              <a:rPr lang="en-IN" sz="3224">
                <a:latin typeface="Arial"/>
                <a:ea typeface="Arial"/>
                <a:cs typeface="Arial"/>
                <a:sym typeface="Arial"/>
              </a:rPr>
              <a:t>7. Comparative Analysis</a:t>
            </a:r>
            <a:endParaRPr sz="3224">
              <a:latin typeface="Arial"/>
              <a:ea typeface="Arial"/>
              <a:cs typeface="Arial"/>
              <a:sym typeface="Arial"/>
            </a:endParaRPr>
          </a:p>
          <a:p>
            <a:pPr marL="0" lvl="0" indent="0" algn="l" rtl="0">
              <a:lnSpc>
                <a:spcPct val="150000"/>
              </a:lnSpc>
              <a:spcBef>
                <a:spcPts val="0"/>
              </a:spcBef>
              <a:spcAft>
                <a:spcPts val="0"/>
              </a:spcAft>
              <a:buNone/>
            </a:pPr>
            <a:r>
              <a:rPr lang="en-IN" sz="3224">
                <a:latin typeface="Arial"/>
                <a:ea typeface="Arial"/>
                <a:cs typeface="Arial"/>
                <a:sym typeface="Arial"/>
              </a:rPr>
              <a:t>8. Conclusion &amp; Future Work</a:t>
            </a:r>
            <a:endParaRPr sz="3224">
              <a:latin typeface="Arial"/>
              <a:ea typeface="Arial"/>
              <a:cs typeface="Arial"/>
              <a:sym typeface="Arial"/>
            </a:endParaRPr>
          </a:p>
          <a:p>
            <a:pPr marL="0" lvl="0" indent="0" algn="l" rtl="0">
              <a:lnSpc>
                <a:spcPct val="150000"/>
              </a:lnSpc>
              <a:spcBef>
                <a:spcPts val="0"/>
              </a:spcBef>
              <a:spcAft>
                <a:spcPts val="0"/>
              </a:spcAft>
              <a:buNone/>
            </a:pPr>
            <a:r>
              <a:rPr lang="en-IN" sz="3224">
                <a:latin typeface="Arial"/>
                <a:ea typeface="Arial"/>
                <a:cs typeface="Arial"/>
                <a:sym typeface="Arial"/>
              </a:rPr>
              <a:t>9. References</a:t>
            </a:r>
            <a:endParaRPr sz="3224">
              <a:latin typeface="Arial"/>
              <a:ea typeface="Arial"/>
              <a:cs typeface="Arial"/>
              <a:sym typeface="Arial"/>
            </a:endParaRPr>
          </a:p>
          <a:p>
            <a:pPr marL="0" lvl="0" indent="0" algn="l" rtl="0">
              <a:lnSpc>
                <a:spcPct val="115000"/>
              </a:lnSpc>
              <a:spcBef>
                <a:spcPts val="0"/>
              </a:spcBef>
              <a:spcAft>
                <a:spcPts val="0"/>
              </a:spcAft>
              <a:buClr>
                <a:schemeClr val="dk1"/>
              </a:buClr>
              <a:buSzPct val="77419"/>
              <a:buNone/>
            </a:pPr>
            <a:endParaRPr sz="3100">
              <a:latin typeface="Comic Sans MS"/>
              <a:ea typeface="Comic Sans MS"/>
              <a:cs typeface="Comic Sans MS"/>
              <a:sym typeface="Comic Sans MS"/>
            </a:endParaRPr>
          </a:p>
          <a:p>
            <a:pPr marL="0" lvl="0" indent="0" algn="l" rtl="0">
              <a:lnSpc>
                <a:spcPct val="90000"/>
              </a:lnSpc>
              <a:spcBef>
                <a:spcPts val="0"/>
              </a:spcBef>
              <a:spcAft>
                <a:spcPts val="0"/>
              </a:spcAft>
              <a:buClr>
                <a:schemeClr val="dk1"/>
              </a:buClr>
              <a:buSzPct val="100000"/>
              <a:buNone/>
            </a:pPr>
            <a:endParaRPr>
              <a:latin typeface="Comic Sans MS"/>
              <a:ea typeface="Comic Sans MS"/>
              <a:cs typeface="Comic Sans MS"/>
              <a:sym typeface="Comic Sans MS"/>
            </a:endParaRPr>
          </a:p>
          <a:p>
            <a:pPr marL="0" lvl="0" indent="0" algn="l" rtl="0">
              <a:spcBef>
                <a:spcPts val="0"/>
              </a:spcBef>
              <a:spcAft>
                <a:spcPts val="0"/>
              </a:spcAft>
              <a:buClr>
                <a:schemeClr val="dk1"/>
              </a:buClr>
              <a:buSzPct val="45833"/>
              <a:buNone/>
            </a:pPr>
            <a:endParaRPr>
              <a:latin typeface="Comic Sans MS"/>
              <a:ea typeface="Comic Sans MS"/>
              <a:cs typeface="Comic Sans MS"/>
              <a:sym typeface="Comic Sans MS"/>
            </a:endParaRPr>
          </a:p>
        </p:txBody>
      </p:sp>
      <p:sp>
        <p:nvSpPr>
          <p:cNvPr id="96" name="Google Shape;96;p2"/>
          <p:cNvSpPr txBox="1"/>
          <p:nvPr/>
        </p:nvSpPr>
        <p:spPr>
          <a:xfrm>
            <a:off x="174595" y="119525"/>
            <a:ext cx="11704018" cy="16312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cap="none">
                <a:solidFill>
                  <a:srgbClr val="FF0000"/>
                </a:solidFill>
                <a:latin typeface="Calibri"/>
                <a:ea typeface="Calibri"/>
                <a:cs typeface="Calibri"/>
                <a:sym typeface="Calibri"/>
              </a:rPr>
              <a:t>                              International Conference on Advanced Systems and Emerging Technologies- ICASET 2025</a:t>
            </a:r>
            <a:endParaRPr/>
          </a:p>
          <a:p>
            <a:pPr marL="0" marR="0" lvl="0" indent="0" algn="ctr" rtl="0">
              <a:spcBef>
                <a:spcPts val="0"/>
              </a:spcBef>
              <a:spcAft>
                <a:spcPts val="0"/>
              </a:spcAft>
              <a:buNone/>
            </a:pPr>
            <a:r>
              <a:rPr lang="en-IN" sz="2400" b="1" i="0" u="none" strike="noStrike" cap="none">
                <a:solidFill>
                  <a:srgbClr val="0070C0"/>
                </a:solidFill>
                <a:latin typeface="Calibri"/>
                <a:ea typeface="Calibri"/>
                <a:cs typeface="Calibri"/>
                <a:sym typeface="Calibri"/>
              </a:rPr>
              <a:t>06</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-07</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November 2025</a:t>
            </a:r>
            <a:endParaRPr/>
          </a:p>
          <a:p>
            <a:pPr marL="0" marR="0" lvl="0" indent="0" algn="ctr" rtl="0">
              <a:spcBef>
                <a:spcPts val="0"/>
              </a:spcBef>
              <a:spcAft>
                <a:spcPts val="0"/>
              </a:spcAft>
              <a:buNone/>
            </a:pPr>
            <a:endParaRPr sz="2800" b="0" i="0" u="none" strike="noStrike" cap="none">
              <a:solidFill>
                <a:srgbClr val="FF0000"/>
              </a:solidFill>
              <a:latin typeface="Calibri"/>
              <a:ea typeface="Calibri"/>
              <a:cs typeface="Calibri"/>
              <a:sym typeface="Calibri"/>
            </a:endParaRPr>
          </a:p>
        </p:txBody>
      </p:sp>
      <p:pic>
        <p:nvPicPr>
          <p:cNvPr id="97" name="Google Shape;97;p2"/>
          <p:cNvPicPr preferRelativeResize="0"/>
          <p:nvPr/>
        </p:nvPicPr>
        <p:blipFill rotWithShape="1">
          <a:blip r:embed="rId3">
            <a:alphaModFix/>
          </a:blip>
          <a:srcRect/>
          <a:stretch/>
        </p:blipFill>
        <p:spPr>
          <a:xfrm>
            <a:off x="0" y="0"/>
            <a:ext cx="2849335" cy="112667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a:spLocks noGrp="1"/>
          </p:cNvSpPr>
          <p:nvPr>
            <p:ph type="subTitle" idx="1"/>
          </p:nvPr>
        </p:nvSpPr>
        <p:spPr>
          <a:xfrm>
            <a:off x="461650" y="1900825"/>
            <a:ext cx="11407800" cy="4491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IN" b="1">
                <a:latin typeface="Arial"/>
                <a:ea typeface="Arial"/>
                <a:cs typeface="Arial"/>
                <a:sym typeface="Arial"/>
              </a:rPr>
              <a:t>1. ABSTRACT:</a:t>
            </a:r>
            <a:endParaRPr b="1">
              <a:latin typeface="Arial"/>
              <a:ea typeface="Arial"/>
              <a:cs typeface="Arial"/>
              <a:sym typeface="Arial"/>
            </a:endParaRPr>
          </a:p>
          <a:p>
            <a:pPr marL="0" lvl="0" indent="0" algn="l" rtl="0">
              <a:lnSpc>
                <a:spcPct val="90000"/>
              </a:lnSpc>
              <a:spcBef>
                <a:spcPts val="0"/>
              </a:spcBef>
              <a:spcAft>
                <a:spcPts val="0"/>
              </a:spcAft>
              <a:buClr>
                <a:schemeClr val="dk1"/>
              </a:buClr>
              <a:buSzPts val="2400"/>
              <a:buNone/>
            </a:pPr>
            <a:endParaRPr b="1">
              <a:latin typeface="Arial"/>
              <a:ea typeface="Arial"/>
              <a:cs typeface="Arial"/>
              <a:sym typeface="Arial"/>
            </a:endParaRPr>
          </a:p>
          <a:p>
            <a:pPr marL="0" lvl="0" indent="0" algn="l" rtl="0">
              <a:lnSpc>
                <a:spcPct val="115000"/>
              </a:lnSpc>
              <a:spcBef>
                <a:spcPts val="0"/>
              </a:spcBef>
              <a:spcAft>
                <a:spcPts val="0"/>
              </a:spcAft>
              <a:buClr>
                <a:schemeClr val="dk1"/>
              </a:buClr>
              <a:buSzPts val="2400"/>
              <a:buNone/>
            </a:pPr>
            <a:r>
              <a:rPr lang="en-IN" sz="2200">
                <a:latin typeface="Arial"/>
                <a:ea typeface="Arial"/>
                <a:cs typeface="Arial"/>
                <a:sym typeface="Arial"/>
              </a:rPr>
              <a:t>One of the biggest problems affecting the telecom industry is the loss of customers in the process commonly referred to as customer churn since saving a customer is cheaper than seeking new one. The paper uses the methods of machine learning to forecast churn with a sample of telecom customers. Models such as the Logistic Regression, Random Forest, and Gradient Boosting were then trained and assessed after preprocessing and exploratory analysis were done. Findings demonstrate that ensemble models performed best in terms of accuracy and recall with the types of contracts, monthly fees, and years of tenure as important churn predictors. These lessons can assist the telecom provider to make specific retention strategies and lessen revenue loss.</a:t>
            </a:r>
            <a:endParaRPr sz="2200">
              <a:latin typeface="Arial"/>
              <a:ea typeface="Arial"/>
              <a:cs typeface="Arial"/>
              <a:sym typeface="Arial"/>
            </a:endParaRPr>
          </a:p>
        </p:txBody>
      </p:sp>
      <p:sp>
        <p:nvSpPr>
          <p:cNvPr id="103" name="Google Shape;103;p3"/>
          <p:cNvSpPr txBox="1"/>
          <p:nvPr/>
        </p:nvSpPr>
        <p:spPr>
          <a:xfrm>
            <a:off x="174595" y="119525"/>
            <a:ext cx="11703900" cy="16311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cap="none">
                <a:solidFill>
                  <a:srgbClr val="FF0000"/>
                </a:solidFill>
                <a:latin typeface="Calibri"/>
                <a:ea typeface="Calibri"/>
                <a:cs typeface="Calibri"/>
                <a:sym typeface="Calibri"/>
              </a:rPr>
              <a:t>                              International Conference on Advanced Systems and Emerging Technologies- ICASET 2025</a:t>
            </a:r>
            <a:endParaRPr/>
          </a:p>
          <a:p>
            <a:pPr marL="0" marR="0" lvl="0" indent="0" algn="ctr" rtl="0">
              <a:spcBef>
                <a:spcPts val="0"/>
              </a:spcBef>
              <a:spcAft>
                <a:spcPts val="0"/>
              </a:spcAft>
              <a:buNone/>
            </a:pPr>
            <a:r>
              <a:rPr lang="en-IN" sz="2400" b="1" i="0" u="none" strike="noStrike" cap="none">
                <a:solidFill>
                  <a:srgbClr val="0070C0"/>
                </a:solidFill>
                <a:latin typeface="Calibri"/>
                <a:ea typeface="Calibri"/>
                <a:cs typeface="Calibri"/>
                <a:sym typeface="Calibri"/>
              </a:rPr>
              <a:t>06</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-07</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November 2025</a:t>
            </a:r>
            <a:endParaRPr/>
          </a:p>
          <a:p>
            <a:pPr marL="0" marR="0" lvl="0" indent="0" algn="ctr" rtl="0">
              <a:spcBef>
                <a:spcPts val="0"/>
              </a:spcBef>
              <a:spcAft>
                <a:spcPts val="0"/>
              </a:spcAft>
              <a:buNone/>
            </a:pPr>
            <a:endParaRPr sz="2800" b="0" i="0" u="none" strike="noStrike" cap="none">
              <a:solidFill>
                <a:srgbClr val="FF0000"/>
              </a:solidFill>
              <a:latin typeface="Calibri"/>
              <a:ea typeface="Calibri"/>
              <a:cs typeface="Calibri"/>
              <a:sym typeface="Calibri"/>
            </a:endParaRPr>
          </a:p>
        </p:txBody>
      </p:sp>
      <p:pic>
        <p:nvPicPr>
          <p:cNvPr id="104" name="Google Shape;104;p3"/>
          <p:cNvPicPr preferRelativeResize="0"/>
          <p:nvPr/>
        </p:nvPicPr>
        <p:blipFill rotWithShape="1">
          <a:blip r:embed="rId3">
            <a:alphaModFix/>
          </a:blip>
          <a:srcRect/>
          <a:stretch/>
        </p:blipFill>
        <p:spPr>
          <a:xfrm>
            <a:off x="0" y="0"/>
            <a:ext cx="2849335" cy="112667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a:spLocks noGrp="1"/>
          </p:cNvSpPr>
          <p:nvPr>
            <p:ph type="subTitle" idx="1"/>
          </p:nvPr>
        </p:nvSpPr>
        <p:spPr>
          <a:xfrm>
            <a:off x="461639" y="1704975"/>
            <a:ext cx="11407806" cy="4686947"/>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2400"/>
              <a:buNone/>
            </a:pPr>
            <a:r>
              <a:rPr lang="en-IN" b="1">
                <a:latin typeface="Arial"/>
                <a:ea typeface="Arial"/>
                <a:cs typeface="Arial"/>
                <a:sym typeface="Arial"/>
              </a:rPr>
              <a:t>2. INTRODUCTION:</a:t>
            </a:r>
            <a:endParaRPr b="1">
              <a:latin typeface="Arial"/>
              <a:ea typeface="Arial"/>
              <a:cs typeface="Arial"/>
              <a:sym typeface="Arial"/>
            </a:endParaRPr>
          </a:p>
          <a:p>
            <a:pPr marL="0" lvl="0" indent="0" algn="l" rtl="0">
              <a:lnSpc>
                <a:spcPct val="90000"/>
              </a:lnSpc>
              <a:spcBef>
                <a:spcPts val="0"/>
              </a:spcBef>
              <a:spcAft>
                <a:spcPts val="0"/>
              </a:spcAft>
              <a:buClr>
                <a:schemeClr val="dk1"/>
              </a:buClr>
              <a:buSzPts val="2400"/>
              <a:buNone/>
            </a:pPr>
            <a:endParaRPr b="1">
              <a:latin typeface="Arial"/>
              <a:ea typeface="Arial"/>
              <a:cs typeface="Arial"/>
              <a:sym typeface="Arial"/>
            </a:endParaRPr>
          </a:p>
          <a:p>
            <a:pPr marL="0" lvl="0" indent="0" algn="l" rtl="0">
              <a:lnSpc>
                <a:spcPct val="115000"/>
              </a:lnSpc>
              <a:spcBef>
                <a:spcPts val="0"/>
              </a:spcBef>
              <a:spcAft>
                <a:spcPts val="0"/>
              </a:spcAft>
              <a:buClr>
                <a:schemeClr val="dk1"/>
              </a:buClr>
              <a:buSzPts val="1100"/>
              <a:buNone/>
            </a:pPr>
            <a:r>
              <a:rPr lang="en-IN" sz="2200">
                <a:latin typeface="Arial"/>
                <a:ea typeface="Arial"/>
                <a:cs typeface="Arial"/>
                <a:sym typeface="Arial"/>
              </a:rPr>
              <a:t>Customer churn, or customer attrition, occurs when users discontinue a company’s services and shift to competitors, leading to significant revenue loss. In the telecom sector, where competition is high, retaining existing customers is far more cost-effective than acquiring new ones. This study aims to develop a machine learning-based predictive framework to identify at-risk customers early and provide actionable insights for retention.</a:t>
            </a:r>
            <a:endParaRPr sz="2200">
              <a:latin typeface="Arial"/>
              <a:ea typeface="Arial"/>
              <a:cs typeface="Arial"/>
              <a:sym typeface="Arial"/>
            </a:endParaRPr>
          </a:p>
          <a:p>
            <a:pPr marL="0" lvl="0" indent="0" algn="l" rtl="0">
              <a:lnSpc>
                <a:spcPct val="115000"/>
              </a:lnSpc>
              <a:spcBef>
                <a:spcPts val="0"/>
              </a:spcBef>
              <a:spcAft>
                <a:spcPts val="0"/>
              </a:spcAft>
              <a:buClr>
                <a:schemeClr val="dk1"/>
              </a:buClr>
              <a:buSzPts val="1100"/>
              <a:buNone/>
            </a:pPr>
            <a:endParaRPr sz="2200">
              <a:latin typeface="Arial"/>
              <a:ea typeface="Arial"/>
              <a:cs typeface="Arial"/>
              <a:sym typeface="Arial"/>
            </a:endParaRPr>
          </a:p>
          <a:p>
            <a:pPr marL="0" lvl="0" indent="0" algn="l" rtl="0">
              <a:lnSpc>
                <a:spcPct val="115000"/>
              </a:lnSpc>
              <a:spcBef>
                <a:spcPts val="0"/>
              </a:spcBef>
              <a:spcAft>
                <a:spcPts val="0"/>
              </a:spcAft>
              <a:buClr>
                <a:schemeClr val="dk1"/>
              </a:buClr>
              <a:buSzPts val="1100"/>
              <a:buNone/>
            </a:pPr>
            <a:r>
              <a:rPr lang="en-IN" sz="2200">
                <a:latin typeface="Arial"/>
                <a:ea typeface="Arial"/>
                <a:cs typeface="Arial"/>
                <a:sym typeface="Arial"/>
              </a:rPr>
              <a:t>The research employs data preprocessing, exploratory data analysis, feature engineering, and predictive modeling using algorithms such as Logistic Regression, Random Forest, XGBoost, and Neural Networks. By combining predictive analytics with strategic retention recommendations, the proposed model enables telecom operators to proactively reduce churn and enhance long-term customer loyalty.</a:t>
            </a:r>
            <a:endParaRPr sz="220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2082">
              <a:latin typeface="Arial"/>
              <a:ea typeface="Arial"/>
              <a:cs typeface="Arial"/>
              <a:sym typeface="Arial"/>
            </a:endParaRPr>
          </a:p>
          <a:p>
            <a:pPr marL="0" lvl="0" indent="0" algn="l" rtl="0">
              <a:lnSpc>
                <a:spcPct val="90000"/>
              </a:lnSpc>
              <a:spcBef>
                <a:spcPts val="0"/>
              </a:spcBef>
              <a:spcAft>
                <a:spcPts val="0"/>
              </a:spcAft>
              <a:buClr>
                <a:schemeClr val="dk1"/>
              </a:buClr>
              <a:buSzPts val="2400"/>
              <a:buNone/>
            </a:pPr>
            <a:endParaRPr sz="2282">
              <a:latin typeface="Arial"/>
              <a:ea typeface="Arial"/>
              <a:cs typeface="Arial"/>
              <a:sym typeface="Arial"/>
            </a:endParaRPr>
          </a:p>
        </p:txBody>
      </p:sp>
      <p:sp>
        <p:nvSpPr>
          <p:cNvPr id="110" name="Google Shape;110;p4"/>
          <p:cNvSpPr txBox="1"/>
          <p:nvPr/>
        </p:nvSpPr>
        <p:spPr>
          <a:xfrm>
            <a:off x="174595" y="119525"/>
            <a:ext cx="11704018" cy="16312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cap="none">
                <a:solidFill>
                  <a:srgbClr val="FF0000"/>
                </a:solidFill>
                <a:latin typeface="Calibri"/>
                <a:ea typeface="Calibri"/>
                <a:cs typeface="Calibri"/>
                <a:sym typeface="Calibri"/>
              </a:rPr>
              <a:t>                              International Conference on Advanced Systems and Emerging Technologies- ICASET 2025</a:t>
            </a:r>
            <a:endParaRPr/>
          </a:p>
          <a:p>
            <a:pPr marL="0" marR="0" lvl="0" indent="0" algn="ctr" rtl="0">
              <a:spcBef>
                <a:spcPts val="0"/>
              </a:spcBef>
              <a:spcAft>
                <a:spcPts val="0"/>
              </a:spcAft>
              <a:buNone/>
            </a:pPr>
            <a:r>
              <a:rPr lang="en-IN" sz="2400" b="1" i="0" u="none" strike="noStrike" cap="none">
                <a:solidFill>
                  <a:srgbClr val="0070C0"/>
                </a:solidFill>
                <a:latin typeface="Calibri"/>
                <a:ea typeface="Calibri"/>
                <a:cs typeface="Calibri"/>
                <a:sym typeface="Calibri"/>
              </a:rPr>
              <a:t>06</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-07</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November 2025</a:t>
            </a:r>
            <a:endParaRPr/>
          </a:p>
          <a:p>
            <a:pPr marL="0" marR="0" lvl="0" indent="0" algn="ctr" rtl="0">
              <a:spcBef>
                <a:spcPts val="0"/>
              </a:spcBef>
              <a:spcAft>
                <a:spcPts val="0"/>
              </a:spcAft>
              <a:buNone/>
            </a:pPr>
            <a:endParaRPr sz="2800" b="0" i="0" u="none" strike="noStrike" cap="none">
              <a:solidFill>
                <a:srgbClr val="FF0000"/>
              </a:solidFill>
              <a:latin typeface="Calibri"/>
              <a:ea typeface="Calibri"/>
              <a:cs typeface="Calibri"/>
              <a:sym typeface="Calibri"/>
            </a:endParaRPr>
          </a:p>
        </p:txBody>
      </p:sp>
      <p:pic>
        <p:nvPicPr>
          <p:cNvPr id="111" name="Google Shape;111;p4"/>
          <p:cNvPicPr preferRelativeResize="0"/>
          <p:nvPr/>
        </p:nvPicPr>
        <p:blipFill rotWithShape="1">
          <a:blip r:embed="rId3">
            <a:alphaModFix/>
          </a:blip>
          <a:srcRect/>
          <a:stretch/>
        </p:blipFill>
        <p:spPr>
          <a:xfrm>
            <a:off x="0" y="0"/>
            <a:ext cx="2849335" cy="112667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5"/>
          <p:cNvSpPr txBox="1">
            <a:spLocks noGrp="1"/>
          </p:cNvSpPr>
          <p:nvPr>
            <p:ph type="subTitle" idx="1"/>
          </p:nvPr>
        </p:nvSpPr>
        <p:spPr>
          <a:xfrm>
            <a:off x="461639" y="1628080"/>
            <a:ext cx="11407806" cy="476384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endParaRPr lang="en-IN" sz="2300" b="1" dirty="0">
              <a:latin typeface="Arial"/>
              <a:ea typeface="Arial"/>
              <a:cs typeface="Arial"/>
              <a:sym typeface="Arial"/>
            </a:endParaRPr>
          </a:p>
          <a:p>
            <a:pPr marL="0" lvl="0" indent="0" algn="l" rtl="0">
              <a:lnSpc>
                <a:spcPct val="90000"/>
              </a:lnSpc>
              <a:spcBef>
                <a:spcPts val="0"/>
              </a:spcBef>
              <a:spcAft>
                <a:spcPts val="0"/>
              </a:spcAft>
              <a:buClr>
                <a:schemeClr val="dk1"/>
              </a:buClr>
              <a:buSzPts val="2400"/>
              <a:buNone/>
            </a:pPr>
            <a:r>
              <a:rPr lang="en-IN" sz="2300" b="1" dirty="0">
                <a:latin typeface="Arial"/>
                <a:ea typeface="Arial"/>
                <a:cs typeface="Arial"/>
                <a:sym typeface="Arial"/>
              </a:rPr>
              <a:t>4. LITERATURE REVIEW :</a:t>
            </a:r>
            <a:endParaRPr sz="2300" b="1" dirty="0">
              <a:latin typeface="Arial"/>
              <a:ea typeface="Arial"/>
              <a:cs typeface="Arial"/>
              <a:sym typeface="Arial"/>
            </a:endParaRPr>
          </a:p>
          <a:p>
            <a:pPr marL="0" lvl="0" indent="0" algn="l" rtl="0">
              <a:lnSpc>
                <a:spcPct val="90000"/>
              </a:lnSpc>
              <a:spcBef>
                <a:spcPts val="1000"/>
              </a:spcBef>
              <a:spcAft>
                <a:spcPts val="0"/>
              </a:spcAft>
              <a:buClr>
                <a:schemeClr val="dk1"/>
              </a:buClr>
              <a:buSzPts val="2400"/>
              <a:buNone/>
            </a:pPr>
            <a:endParaRPr dirty="0"/>
          </a:p>
        </p:txBody>
      </p:sp>
      <p:sp>
        <p:nvSpPr>
          <p:cNvPr id="117" name="Google Shape;117;p5"/>
          <p:cNvSpPr txBox="1"/>
          <p:nvPr/>
        </p:nvSpPr>
        <p:spPr>
          <a:xfrm>
            <a:off x="174595" y="119525"/>
            <a:ext cx="11704018" cy="16312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cap="none">
                <a:solidFill>
                  <a:srgbClr val="FF0000"/>
                </a:solidFill>
                <a:latin typeface="Calibri"/>
                <a:ea typeface="Calibri"/>
                <a:cs typeface="Calibri"/>
                <a:sym typeface="Calibri"/>
              </a:rPr>
              <a:t>                              International Conference on Advanced Systems and Emerging Technologies- ICASET 2025</a:t>
            </a:r>
            <a:endParaRPr/>
          </a:p>
          <a:p>
            <a:pPr marL="0" marR="0" lvl="0" indent="0" algn="ctr" rtl="0">
              <a:spcBef>
                <a:spcPts val="0"/>
              </a:spcBef>
              <a:spcAft>
                <a:spcPts val="0"/>
              </a:spcAft>
              <a:buNone/>
            </a:pPr>
            <a:r>
              <a:rPr lang="en-IN" sz="2400" b="1" i="0" u="none" strike="noStrike" cap="none">
                <a:solidFill>
                  <a:srgbClr val="0070C0"/>
                </a:solidFill>
                <a:latin typeface="Calibri"/>
                <a:ea typeface="Calibri"/>
                <a:cs typeface="Calibri"/>
                <a:sym typeface="Calibri"/>
              </a:rPr>
              <a:t>06</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-07</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November 2025</a:t>
            </a:r>
            <a:endParaRPr/>
          </a:p>
          <a:p>
            <a:pPr marL="0" marR="0" lvl="0" indent="0" algn="ctr" rtl="0">
              <a:spcBef>
                <a:spcPts val="0"/>
              </a:spcBef>
              <a:spcAft>
                <a:spcPts val="0"/>
              </a:spcAft>
              <a:buNone/>
            </a:pPr>
            <a:endParaRPr sz="2800" b="0" i="0" u="none" strike="noStrike" cap="none">
              <a:solidFill>
                <a:srgbClr val="FF0000"/>
              </a:solidFill>
              <a:latin typeface="Calibri"/>
              <a:ea typeface="Calibri"/>
              <a:cs typeface="Calibri"/>
              <a:sym typeface="Calibri"/>
            </a:endParaRPr>
          </a:p>
        </p:txBody>
      </p:sp>
      <p:pic>
        <p:nvPicPr>
          <p:cNvPr id="118" name="Google Shape;118;p5"/>
          <p:cNvPicPr preferRelativeResize="0"/>
          <p:nvPr/>
        </p:nvPicPr>
        <p:blipFill rotWithShape="1">
          <a:blip r:embed="rId3">
            <a:alphaModFix/>
          </a:blip>
          <a:srcRect/>
          <a:stretch/>
        </p:blipFill>
        <p:spPr>
          <a:xfrm>
            <a:off x="0" y="0"/>
            <a:ext cx="2849335" cy="1126671"/>
          </a:xfrm>
          <a:prstGeom prst="rect">
            <a:avLst/>
          </a:prstGeom>
          <a:noFill/>
          <a:ln>
            <a:noFill/>
          </a:ln>
        </p:spPr>
      </p:pic>
      <p:pic>
        <p:nvPicPr>
          <p:cNvPr id="11" name="Picture 10">
            <a:extLst>
              <a:ext uri="{FF2B5EF4-FFF2-40B4-BE49-F238E27FC236}">
                <a16:creationId xmlns:a16="http://schemas.microsoft.com/office/drawing/2014/main" id="{6126E8B8-2573-0D99-E4A1-F4F3F0267167}"/>
              </a:ext>
            </a:extLst>
          </p:cNvPr>
          <p:cNvPicPr>
            <a:picLocks noChangeAspect="1"/>
          </p:cNvPicPr>
          <p:nvPr/>
        </p:nvPicPr>
        <p:blipFill>
          <a:blip r:embed="rId4"/>
          <a:stretch>
            <a:fillRect/>
          </a:stretch>
        </p:blipFill>
        <p:spPr>
          <a:xfrm>
            <a:off x="399100" y="2775070"/>
            <a:ext cx="11532418" cy="29669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6"/>
          <p:cNvSpPr txBox="1">
            <a:spLocks noGrp="1"/>
          </p:cNvSpPr>
          <p:nvPr>
            <p:ph type="subTitle" idx="1"/>
          </p:nvPr>
        </p:nvSpPr>
        <p:spPr>
          <a:xfrm>
            <a:off x="461650" y="1885175"/>
            <a:ext cx="11407800" cy="45066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ct val="100000"/>
              <a:buNone/>
            </a:pPr>
            <a:endParaRPr>
              <a:latin typeface="Comic Sans MS"/>
              <a:ea typeface="Comic Sans MS"/>
              <a:cs typeface="Comic Sans MS"/>
              <a:sym typeface="Comic Sans MS"/>
            </a:endParaRPr>
          </a:p>
          <a:p>
            <a:pPr marL="0" lvl="0" indent="0" algn="l" rtl="0">
              <a:lnSpc>
                <a:spcPct val="90000"/>
              </a:lnSpc>
              <a:spcBef>
                <a:spcPts val="0"/>
              </a:spcBef>
              <a:spcAft>
                <a:spcPts val="0"/>
              </a:spcAft>
              <a:buClr>
                <a:schemeClr val="dk1"/>
              </a:buClr>
              <a:buSzPct val="100000"/>
              <a:buNone/>
            </a:pPr>
            <a:r>
              <a:rPr lang="en-IN" b="1">
                <a:latin typeface="Comic Sans MS"/>
                <a:ea typeface="Comic Sans MS"/>
                <a:cs typeface="Comic Sans MS"/>
                <a:sym typeface="Comic Sans MS"/>
              </a:rPr>
              <a:t>5</a:t>
            </a:r>
            <a:r>
              <a:rPr lang="en-IN" b="1">
                <a:latin typeface="Arial"/>
                <a:ea typeface="Arial"/>
                <a:cs typeface="Arial"/>
                <a:sym typeface="Arial"/>
              </a:rPr>
              <a:t>. RESEARCH GAPS :</a:t>
            </a:r>
            <a:endParaRPr b="1">
              <a:latin typeface="Arial"/>
              <a:ea typeface="Arial"/>
              <a:cs typeface="Arial"/>
              <a:sym typeface="Arial"/>
            </a:endParaRPr>
          </a:p>
          <a:p>
            <a:pPr marL="0" lvl="0" indent="0" algn="l" rtl="0">
              <a:lnSpc>
                <a:spcPct val="90000"/>
              </a:lnSpc>
              <a:spcBef>
                <a:spcPts val="0"/>
              </a:spcBef>
              <a:spcAft>
                <a:spcPts val="0"/>
              </a:spcAft>
              <a:buClr>
                <a:schemeClr val="dk1"/>
              </a:buClr>
              <a:buSzPct val="100000"/>
              <a:buNone/>
            </a:pPr>
            <a:endParaRPr>
              <a:latin typeface="Arial"/>
              <a:ea typeface="Arial"/>
              <a:cs typeface="Arial"/>
              <a:sym typeface="Arial"/>
            </a:endParaRPr>
          </a:p>
          <a:p>
            <a:pPr marL="0" lvl="0" indent="0" algn="l" rtl="0">
              <a:lnSpc>
                <a:spcPct val="90000"/>
              </a:lnSpc>
              <a:spcBef>
                <a:spcPts val="0"/>
              </a:spcBef>
              <a:spcAft>
                <a:spcPts val="0"/>
              </a:spcAft>
              <a:buClr>
                <a:schemeClr val="dk1"/>
              </a:buClr>
              <a:buSzPct val="100000"/>
              <a:buNone/>
            </a:pPr>
            <a:endParaRPr>
              <a:latin typeface="Arial"/>
              <a:ea typeface="Arial"/>
              <a:cs typeface="Arial"/>
              <a:sym typeface="Arial"/>
            </a:endParaRPr>
          </a:p>
          <a:p>
            <a:pPr marL="457200" lvl="0" indent="-369570" algn="l" rtl="0">
              <a:spcBef>
                <a:spcPts val="0"/>
              </a:spcBef>
              <a:spcAft>
                <a:spcPts val="0"/>
              </a:spcAft>
              <a:buSzPct val="100000"/>
              <a:buChar char="●"/>
            </a:pPr>
            <a:r>
              <a:rPr lang="en-IN">
                <a:latin typeface="Arial"/>
                <a:ea typeface="Arial"/>
                <a:cs typeface="Arial"/>
                <a:sym typeface="Arial"/>
              </a:rPr>
              <a:t>Most systems predict churn but do not recommend retention actions.</a:t>
            </a:r>
            <a:endParaRPr>
              <a:latin typeface="Arial"/>
              <a:ea typeface="Arial"/>
              <a:cs typeface="Arial"/>
              <a:sym typeface="Arial"/>
            </a:endParaRPr>
          </a:p>
          <a:p>
            <a:pPr marL="457200" lvl="0" indent="0" algn="l" rtl="0">
              <a:spcBef>
                <a:spcPts val="0"/>
              </a:spcBef>
              <a:spcAft>
                <a:spcPts val="0"/>
              </a:spcAft>
              <a:buNone/>
            </a:pPr>
            <a:endParaRPr>
              <a:latin typeface="Arial"/>
              <a:ea typeface="Arial"/>
              <a:cs typeface="Arial"/>
              <a:sym typeface="Arial"/>
            </a:endParaRPr>
          </a:p>
          <a:p>
            <a:pPr marL="457200" lvl="0" indent="-369570" algn="l" rtl="0">
              <a:spcBef>
                <a:spcPts val="0"/>
              </a:spcBef>
              <a:spcAft>
                <a:spcPts val="0"/>
              </a:spcAft>
              <a:buSzPct val="100000"/>
              <a:buChar char="●"/>
            </a:pPr>
            <a:r>
              <a:rPr lang="en-IN">
                <a:latin typeface="Arial"/>
                <a:ea typeface="Arial"/>
                <a:cs typeface="Arial"/>
                <a:sym typeface="Arial"/>
              </a:rPr>
              <a:t>Imbalanced datasets reduce classifier accuracy.</a:t>
            </a:r>
            <a:endParaRPr>
              <a:latin typeface="Arial"/>
              <a:ea typeface="Arial"/>
              <a:cs typeface="Arial"/>
              <a:sym typeface="Arial"/>
            </a:endParaRPr>
          </a:p>
          <a:p>
            <a:pPr marL="457200" lvl="0" indent="0" algn="l" rtl="0">
              <a:spcBef>
                <a:spcPts val="0"/>
              </a:spcBef>
              <a:spcAft>
                <a:spcPts val="0"/>
              </a:spcAft>
              <a:buNone/>
            </a:pPr>
            <a:endParaRPr>
              <a:latin typeface="Arial"/>
              <a:ea typeface="Arial"/>
              <a:cs typeface="Arial"/>
              <a:sym typeface="Arial"/>
            </a:endParaRPr>
          </a:p>
          <a:p>
            <a:pPr marL="457200" lvl="0" indent="-369570" algn="l" rtl="0">
              <a:spcBef>
                <a:spcPts val="0"/>
              </a:spcBef>
              <a:spcAft>
                <a:spcPts val="0"/>
              </a:spcAft>
              <a:buSzPct val="100000"/>
              <a:buChar char="●"/>
            </a:pPr>
            <a:r>
              <a:rPr lang="en-IN">
                <a:latin typeface="Arial"/>
                <a:ea typeface="Arial"/>
                <a:cs typeface="Arial"/>
                <a:sym typeface="Arial"/>
              </a:rPr>
              <a:t>Black-box models hinder managerial interpretation.</a:t>
            </a:r>
            <a:endParaRPr>
              <a:latin typeface="Arial"/>
              <a:ea typeface="Arial"/>
              <a:cs typeface="Arial"/>
              <a:sym typeface="Arial"/>
            </a:endParaRPr>
          </a:p>
          <a:p>
            <a:pPr marL="457200" lvl="0" indent="0" algn="l" rtl="0">
              <a:spcBef>
                <a:spcPts val="0"/>
              </a:spcBef>
              <a:spcAft>
                <a:spcPts val="0"/>
              </a:spcAft>
              <a:buNone/>
            </a:pPr>
            <a:endParaRPr>
              <a:latin typeface="Arial"/>
              <a:ea typeface="Arial"/>
              <a:cs typeface="Arial"/>
              <a:sym typeface="Arial"/>
            </a:endParaRPr>
          </a:p>
          <a:p>
            <a:pPr marL="457200" lvl="0" indent="-369570" algn="l" rtl="0">
              <a:spcBef>
                <a:spcPts val="0"/>
              </a:spcBef>
              <a:spcAft>
                <a:spcPts val="0"/>
              </a:spcAft>
              <a:buSzPct val="100000"/>
              <a:buChar char="●"/>
            </a:pPr>
            <a:r>
              <a:rPr lang="en-IN">
                <a:latin typeface="Arial"/>
                <a:ea typeface="Arial"/>
                <a:cs typeface="Arial"/>
                <a:sym typeface="Arial"/>
              </a:rPr>
              <a:t>Lack of real-time, automated decision frameworks for telecom.</a:t>
            </a:r>
            <a:endParaRPr>
              <a:latin typeface="Arial"/>
              <a:ea typeface="Arial"/>
              <a:cs typeface="Arial"/>
              <a:sym typeface="Arial"/>
            </a:endParaRPr>
          </a:p>
          <a:p>
            <a:pPr marL="457200" lvl="0" indent="0" algn="l" rtl="0">
              <a:spcBef>
                <a:spcPts val="0"/>
              </a:spcBef>
              <a:spcAft>
                <a:spcPts val="0"/>
              </a:spcAft>
              <a:buNone/>
            </a:pPr>
            <a:endParaRPr>
              <a:latin typeface="Arial"/>
              <a:ea typeface="Arial"/>
              <a:cs typeface="Arial"/>
              <a:sym typeface="Arial"/>
            </a:endParaRPr>
          </a:p>
          <a:p>
            <a:pPr marL="457200" lvl="0" indent="-369570" algn="l" rtl="0">
              <a:spcBef>
                <a:spcPts val="0"/>
              </a:spcBef>
              <a:spcAft>
                <a:spcPts val="0"/>
              </a:spcAft>
              <a:buSzPct val="100000"/>
              <a:buChar char="●"/>
            </a:pPr>
            <a:r>
              <a:rPr lang="en-IN">
                <a:latin typeface="Arial"/>
                <a:ea typeface="Arial"/>
                <a:cs typeface="Arial"/>
                <a:sym typeface="Arial"/>
              </a:rPr>
              <a:t>Limited adaptability across telecom markets.</a:t>
            </a:r>
            <a:endParaRPr>
              <a:latin typeface="Arial"/>
              <a:ea typeface="Arial"/>
              <a:cs typeface="Arial"/>
              <a:sym typeface="Arial"/>
            </a:endParaRPr>
          </a:p>
          <a:p>
            <a:pPr marL="0" lvl="0" indent="0" algn="l" rtl="0">
              <a:lnSpc>
                <a:spcPct val="90000"/>
              </a:lnSpc>
              <a:spcBef>
                <a:spcPts val="0"/>
              </a:spcBef>
              <a:spcAft>
                <a:spcPts val="0"/>
              </a:spcAft>
              <a:buClr>
                <a:schemeClr val="dk1"/>
              </a:buClr>
              <a:buSzPct val="100000"/>
              <a:buNone/>
            </a:pPr>
            <a:endParaRPr>
              <a:latin typeface="Comic Sans MS"/>
              <a:ea typeface="Comic Sans MS"/>
              <a:cs typeface="Comic Sans MS"/>
              <a:sym typeface="Comic Sans MS"/>
            </a:endParaRPr>
          </a:p>
          <a:p>
            <a:pPr marL="0" lvl="0" indent="0" algn="l" rtl="0">
              <a:lnSpc>
                <a:spcPct val="90000"/>
              </a:lnSpc>
              <a:spcBef>
                <a:spcPts val="1000"/>
              </a:spcBef>
              <a:spcAft>
                <a:spcPts val="0"/>
              </a:spcAft>
              <a:buClr>
                <a:schemeClr val="dk1"/>
              </a:buClr>
              <a:buSzPct val="100000"/>
              <a:buNone/>
            </a:pPr>
            <a:endParaRPr>
              <a:latin typeface="Comic Sans MS"/>
              <a:ea typeface="Comic Sans MS"/>
              <a:cs typeface="Comic Sans MS"/>
              <a:sym typeface="Comic Sans MS"/>
            </a:endParaRPr>
          </a:p>
          <a:p>
            <a:pPr marL="0" lvl="0" indent="0" algn="l" rtl="0">
              <a:lnSpc>
                <a:spcPct val="90000"/>
              </a:lnSpc>
              <a:spcBef>
                <a:spcPts val="1000"/>
              </a:spcBef>
              <a:spcAft>
                <a:spcPts val="0"/>
              </a:spcAft>
              <a:buClr>
                <a:schemeClr val="dk1"/>
              </a:buClr>
              <a:buSzPct val="100000"/>
              <a:buNone/>
            </a:pPr>
            <a:endParaRPr>
              <a:latin typeface="Comic Sans MS"/>
              <a:ea typeface="Comic Sans MS"/>
              <a:cs typeface="Comic Sans MS"/>
              <a:sym typeface="Comic Sans MS"/>
            </a:endParaRPr>
          </a:p>
          <a:p>
            <a:pPr marL="0" lvl="0" indent="0" algn="l" rtl="0">
              <a:lnSpc>
                <a:spcPct val="90000"/>
              </a:lnSpc>
              <a:spcBef>
                <a:spcPts val="1000"/>
              </a:spcBef>
              <a:spcAft>
                <a:spcPts val="0"/>
              </a:spcAft>
              <a:buClr>
                <a:schemeClr val="dk1"/>
              </a:buClr>
              <a:buSzPct val="100000"/>
              <a:buNone/>
            </a:pPr>
            <a:endParaRPr>
              <a:latin typeface="Comic Sans MS"/>
              <a:ea typeface="Comic Sans MS"/>
              <a:cs typeface="Comic Sans MS"/>
              <a:sym typeface="Comic Sans MS"/>
            </a:endParaRPr>
          </a:p>
        </p:txBody>
      </p:sp>
      <p:sp>
        <p:nvSpPr>
          <p:cNvPr id="125" name="Google Shape;125;p6"/>
          <p:cNvSpPr txBox="1"/>
          <p:nvPr/>
        </p:nvSpPr>
        <p:spPr>
          <a:xfrm>
            <a:off x="174595" y="119525"/>
            <a:ext cx="11704018" cy="16312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cap="none">
                <a:solidFill>
                  <a:srgbClr val="FF0000"/>
                </a:solidFill>
                <a:latin typeface="Calibri"/>
                <a:ea typeface="Calibri"/>
                <a:cs typeface="Calibri"/>
                <a:sym typeface="Calibri"/>
              </a:rPr>
              <a:t>                              International Conference on Advanced Systems and Emerging Technologies- ICASET 2025</a:t>
            </a:r>
            <a:endParaRPr/>
          </a:p>
          <a:p>
            <a:pPr marL="0" marR="0" lvl="0" indent="0" algn="ctr" rtl="0">
              <a:spcBef>
                <a:spcPts val="0"/>
              </a:spcBef>
              <a:spcAft>
                <a:spcPts val="0"/>
              </a:spcAft>
              <a:buNone/>
            </a:pPr>
            <a:r>
              <a:rPr lang="en-IN" sz="2400" b="1" i="0" u="none" strike="noStrike" cap="none">
                <a:solidFill>
                  <a:srgbClr val="0070C0"/>
                </a:solidFill>
                <a:latin typeface="Calibri"/>
                <a:ea typeface="Calibri"/>
                <a:cs typeface="Calibri"/>
                <a:sym typeface="Calibri"/>
              </a:rPr>
              <a:t>06</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-07</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November 2025</a:t>
            </a:r>
            <a:endParaRPr/>
          </a:p>
          <a:p>
            <a:pPr marL="0" marR="0" lvl="0" indent="0" algn="ctr" rtl="0">
              <a:spcBef>
                <a:spcPts val="0"/>
              </a:spcBef>
              <a:spcAft>
                <a:spcPts val="0"/>
              </a:spcAft>
              <a:buNone/>
            </a:pPr>
            <a:endParaRPr sz="2800" b="0" i="0" u="none" strike="noStrike" cap="none">
              <a:solidFill>
                <a:srgbClr val="FF0000"/>
              </a:solidFill>
              <a:latin typeface="Calibri"/>
              <a:ea typeface="Calibri"/>
              <a:cs typeface="Calibri"/>
              <a:sym typeface="Calibri"/>
            </a:endParaRPr>
          </a:p>
        </p:txBody>
      </p:sp>
      <p:pic>
        <p:nvPicPr>
          <p:cNvPr id="126" name="Google Shape;126;p6"/>
          <p:cNvPicPr preferRelativeResize="0"/>
          <p:nvPr/>
        </p:nvPicPr>
        <p:blipFill rotWithShape="1">
          <a:blip r:embed="rId3">
            <a:alphaModFix/>
          </a:blip>
          <a:srcRect/>
          <a:stretch/>
        </p:blipFill>
        <p:spPr>
          <a:xfrm>
            <a:off x="0" y="0"/>
            <a:ext cx="2849335" cy="112667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subTitle" idx="1"/>
          </p:nvPr>
        </p:nvSpPr>
        <p:spPr>
          <a:xfrm>
            <a:off x="461639" y="1600200"/>
            <a:ext cx="11407806" cy="479172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IN" b="1">
                <a:latin typeface="Arial"/>
                <a:ea typeface="Arial"/>
                <a:cs typeface="Arial"/>
                <a:sym typeface="Arial"/>
              </a:rPr>
              <a:t>6. PROPOSED METHODOLOGY :</a:t>
            </a:r>
            <a:endParaRPr b="1">
              <a:latin typeface="Arial"/>
              <a:ea typeface="Arial"/>
              <a:cs typeface="Arial"/>
              <a:sym typeface="Arial"/>
            </a:endParaRPr>
          </a:p>
          <a:p>
            <a:pPr marL="0" lvl="0" indent="0" algn="l" rtl="0">
              <a:lnSpc>
                <a:spcPct val="90000"/>
              </a:lnSpc>
              <a:spcBef>
                <a:spcPts val="1000"/>
              </a:spcBef>
              <a:spcAft>
                <a:spcPts val="0"/>
              </a:spcAft>
              <a:buClr>
                <a:schemeClr val="dk1"/>
              </a:buClr>
              <a:buSzPts val="2400"/>
              <a:buNone/>
            </a:pPr>
            <a:endParaRPr>
              <a:latin typeface="Comic Sans MS"/>
              <a:ea typeface="Comic Sans MS"/>
              <a:cs typeface="Comic Sans MS"/>
              <a:sym typeface="Comic Sans MS"/>
            </a:endParaRPr>
          </a:p>
          <a:p>
            <a:pPr marL="0" lvl="0" indent="0" algn="l" rtl="0">
              <a:lnSpc>
                <a:spcPct val="90000"/>
              </a:lnSpc>
              <a:spcBef>
                <a:spcPts val="1000"/>
              </a:spcBef>
              <a:spcAft>
                <a:spcPts val="0"/>
              </a:spcAft>
              <a:buClr>
                <a:schemeClr val="dk1"/>
              </a:buClr>
              <a:buSzPts val="2400"/>
              <a:buNone/>
            </a:pPr>
            <a:endParaRPr>
              <a:latin typeface="Comic Sans MS"/>
              <a:ea typeface="Comic Sans MS"/>
              <a:cs typeface="Comic Sans MS"/>
              <a:sym typeface="Comic Sans MS"/>
            </a:endParaRPr>
          </a:p>
          <a:p>
            <a:pPr marL="0" lvl="0" indent="0" algn="l" rtl="0">
              <a:lnSpc>
                <a:spcPct val="90000"/>
              </a:lnSpc>
              <a:spcBef>
                <a:spcPts val="1000"/>
              </a:spcBef>
              <a:spcAft>
                <a:spcPts val="0"/>
              </a:spcAft>
              <a:buClr>
                <a:schemeClr val="dk1"/>
              </a:buClr>
              <a:buSzPts val="2400"/>
              <a:buNone/>
            </a:pPr>
            <a:endParaRPr>
              <a:latin typeface="Comic Sans MS"/>
              <a:ea typeface="Comic Sans MS"/>
              <a:cs typeface="Comic Sans MS"/>
              <a:sym typeface="Comic Sans MS"/>
            </a:endParaRPr>
          </a:p>
          <a:p>
            <a:pPr marL="0" lvl="0" indent="0" algn="l" rtl="0">
              <a:lnSpc>
                <a:spcPct val="90000"/>
              </a:lnSpc>
              <a:spcBef>
                <a:spcPts val="1000"/>
              </a:spcBef>
              <a:spcAft>
                <a:spcPts val="0"/>
              </a:spcAft>
              <a:buClr>
                <a:schemeClr val="dk1"/>
              </a:buClr>
              <a:buSzPts val="2400"/>
              <a:buNone/>
            </a:pPr>
            <a:endParaRPr/>
          </a:p>
        </p:txBody>
      </p:sp>
      <p:sp>
        <p:nvSpPr>
          <p:cNvPr id="132" name="Google Shape;132;p7"/>
          <p:cNvSpPr txBox="1"/>
          <p:nvPr/>
        </p:nvSpPr>
        <p:spPr>
          <a:xfrm>
            <a:off x="174595" y="119525"/>
            <a:ext cx="11704018" cy="16312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cap="none">
                <a:solidFill>
                  <a:srgbClr val="FF0000"/>
                </a:solidFill>
                <a:latin typeface="Calibri"/>
                <a:ea typeface="Calibri"/>
                <a:cs typeface="Calibri"/>
                <a:sym typeface="Calibri"/>
              </a:rPr>
              <a:t>                              International Conference on Advanced Systems and Emerging Technologies- ICASET 2025</a:t>
            </a:r>
            <a:endParaRPr/>
          </a:p>
          <a:p>
            <a:pPr marL="0" marR="0" lvl="0" indent="0" algn="ctr" rtl="0">
              <a:spcBef>
                <a:spcPts val="0"/>
              </a:spcBef>
              <a:spcAft>
                <a:spcPts val="0"/>
              </a:spcAft>
              <a:buNone/>
            </a:pPr>
            <a:r>
              <a:rPr lang="en-IN" sz="2400" b="1" i="0" u="none" strike="noStrike" cap="none">
                <a:solidFill>
                  <a:srgbClr val="0070C0"/>
                </a:solidFill>
                <a:latin typeface="Calibri"/>
                <a:ea typeface="Calibri"/>
                <a:cs typeface="Calibri"/>
                <a:sym typeface="Calibri"/>
              </a:rPr>
              <a:t>06</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-07</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November 2025</a:t>
            </a:r>
            <a:endParaRPr/>
          </a:p>
          <a:p>
            <a:pPr marL="0" marR="0" lvl="0" indent="0" algn="ctr" rtl="0">
              <a:spcBef>
                <a:spcPts val="0"/>
              </a:spcBef>
              <a:spcAft>
                <a:spcPts val="0"/>
              </a:spcAft>
              <a:buNone/>
            </a:pPr>
            <a:endParaRPr sz="2800" b="0" i="0" u="none" strike="noStrike" cap="none">
              <a:solidFill>
                <a:srgbClr val="FF0000"/>
              </a:solidFill>
              <a:latin typeface="Calibri"/>
              <a:ea typeface="Calibri"/>
              <a:cs typeface="Calibri"/>
              <a:sym typeface="Calibri"/>
            </a:endParaRPr>
          </a:p>
        </p:txBody>
      </p:sp>
      <p:pic>
        <p:nvPicPr>
          <p:cNvPr id="133" name="Google Shape;133;p7"/>
          <p:cNvPicPr preferRelativeResize="0"/>
          <p:nvPr/>
        </p:nvPicPr>
        <p:blipFill rotWithShape="1">
          <a:blip r:embed="rId3">
            <a:alphaModFix/>
          </a:blip>
          <a:srcRect/>
          <a:stretch/>
        </p:blipFill>
        <p:spPr>
          <a:xfrm>
            <a:off x="0" y="0"/>
            <a:ext cx="2849335" cy="1126671"/>
          </a:xfrm>
          <a:prstGeom prst="rect">
            <a:avLst/>
          </a:prstGeom>
          <a:noFill/>
          <a:ln>
            <a:noFill/>
          </a:ln>
        </p:spPr>
      </p:pic>
      <p:pic>
        <p:nvPicPr>
          <p:cNvPr id="134" name="Google Shape;134;p7"/>
          <p:cNvPicPr preferRelativeResize="0"/>
          <p:nvPr/>
        </p:nvPicPr>
        <p:blipFill>
          <a:blip r:embed="rId4">
            <a:alphaModFix/>
          </a:blip>
          <a:stretch>
            <a:fillRect/>
          </a:stretch>
        </p:blipFill>
        <p:spPr>
          <a:xfrm>
            <a:off x="1981988" y="2088400"/>
            <a:ext cx="8367126" cy="4303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8"/>
          <p:cNvSpPr txBox="1">
            <a:spLocks noGrp="1"/>
          </p:cNvSpPr>
          <p:nvPr>
            <p:ph type="subTitle" idx="1"/>
          </p:nvPr>
        </p:nvSpPr>
        <p:spPr>
          <a:xfrm>
            <a:off x="461650" y="1750750"/>
            <a:ext cx="11407800" cy="464130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chemeClr val="dk1"/>
              </a:buClr>
              <a:buSzPct val="80769"/>
              <a:buNone/>
            </a:pPr>
            <a:r>
              <a:rPr lang="en-IN" sz="2971" b="1">
                <a:latin typeface="Arial"/>
                <a:ea typeface="Arial"/>
                <a:cs typeface="Arial"/>
                <a:sym typeface="Arial"/>
              </a:rPr>
              <a:t>7. RESULTS &amp; DISCUSSION: </a:t>
            </a:r>
            <a:endParaRPr sz="2971" b="1">
              <a:latin typeface="Arial"/>
              <a:ea typeface="Arial"/>
              <a:cs typeface="Arial"/>
              <a:sym typeface="Arial"/>
            </a:endParaRPr>
          </a:p>
          <a:p>
            <a:pPr marL="0" lvl="0" indent="0" algn="l" rtl="0">
              <a:lnSpc>
                <a:spcPct val="90000"/>
              </a:lnSpc>
              <a:spcBef>
                <a:spcPts val="1000"/>
              </a:spcBef>
              <a:spcAft>
                <a:spcPts val="0"/>
              </a:spcAft>
              <a:buClr>
                <a:schemeClr val="dk1"/>
              </a:buClr>
              <a:buSzPct val="100000"/>
              <a:buNone/>
            </a:pPr>
            <a:endParaRPr>
              <a:latin typeface="Comic Sans MS"/>
              <a:ea typeface="Comic Sans MS"/>
              <a:cs typeface="Comic Sans MS"/>
              <a:sym typeface="Comic Sans MS"/>
            </a:endParaRPr>
          </a:p>
          <a:p>
            <a:pPr marL="0" lvl="0" indent="0" algn="l" rtl="0">
              <a:lnSpc>
                <a:spcPct val="90000"/>
              </a:lnSpc>
              <a:spcBef>
                <a:spcPts val="1000"/>
              </a:spcBef>
              <a:spcAft>
                <a:spcPts val="0"/>
              </a:spcAft>
              <a:buClr>
                <a:schemeClr val="dk1"/>
              </a:buClr>
              <a:buSzPct val="100000"/>
              <a:buNone/>
            </a:pPr>
            <a:endParaRPr>
              <a:latin typeface="Comic Sans MS"/>
              <a:ea typeface="Comic Sans MS"/>
              <a:cs typeface="Comic Sans MS"/>
              <a:sym typeface="Comic Sans MS"/>
            </a:endParaRPr>
          </a:p>
          <a:p>
            <a:pPr marL="0" lvl="0" indent="0" algn="l" rtl="0">
              <a:lnSpc>
                <a:spcPct val="90000"/>
              </a:lnSpc>
              <a:spcBef>
                <a:spcPts val="1000"/>
              </a:spcBef>
              <a:spcAft>
                <a:spcPts val="0"/>
              </a:spcAft>
              <a:buClr>
                <a:schemeClr val="dk1"/>
              </a:buClr>
              <a:buSzPct val="100000"/>
              <a:buNone/>
            </a:pPr>
            <a:endParaRPr>
              <a:latin typeface="Comic Sans MS"/>
              <a:ea typeface="Comic Sans MS"/>
              <a:cs typeface="Comic Sans MS"/>
              <a:sym typeface="Comic Sans MS"/>
            </a:endParaRPr>
          </a:p>
          <a:p>
            <a:pPr marL="0" lvl="0" indent="0" algn="l" rtl="0">
              <a:lnSpc>
                <a:spcPct val="90000"/>
              </a:lnSpc>
              <a:spcBef>
                <a:spcPts val="1000"/>
              </a:spcBef>
              <a:spcAft>
                <a:spcPts val="0"/>
              </a:spcAft>
              <a:buClr>
                <a:schemeClr val="dk1"/>
              </a:buClr>
              <a:buSzPct val="100000"/>
              <a:buNone/>
            </a:pPr>
            <a:endParaRPr>
              <a:latin typeface="Comic Sans MS"/>
              <a:ea typeface="Comic Sans MS"/>
              <a:cs typeface="Comic Sans MS"/>
              <a:sym typeface="Comic Sans MS"/>
            </a:endParaRPr>
          </a:p>
          <a:p>
            <a:pPr marL="0" lvl="0" indent="0" algn="l" rtl="0">
              <a:lnSpc>
                <a:spcPct val="90000"/>
              </a:lnSpc>
              <a:spcBef>
                <a:spcPts val="1000"/>
              </a:spcBef>
              <a:spcAft>
                <a:spcPts val="0"/>
              </a:spcAft>
              <a:buClr>
                <a:schemeClr val="dk1"/>
              </a:buClr>
              <a:buSzPct val="100000"/>
              <a:buNone/>
            </a:pPr>
            <a:endParaRPr>
              <a:latin typeface="Comic Sans MS"/>
              <a:ea typeface="Comic Sans MS"/>
              <a:cs typeface="Comic Sans MS"/>
              <a:sym typeface="Comic Sans MS"/>
            </a:endParaRPr>
          </a:p>
          <a:p>
            <a:pPr marL="0" lvl="0" indent="0" algn="l" rtl="0">
              <a:spcBef>
                <a:spcPts val="1000"/>
              </a:spcBef>
              <a:spcAft>
                <a:spcPts val="0"/>
              </a:spcAft>
              <a:buClr>
                <a:schemeClr val="dk1"/>
              </a:buClr>
              <a:buSzPct val="45833"/>
              <a:buFont typeface="Arial"/>
              <a:buNone/>
            </a:pPr>
            <a:br>
              <a:rPr lang="en-IN">
                <a:latin typeface="Arial"/>
                <a:ea typeface="Arial"/>
                <a:cs typeface="Arial"/>
                <a:sym typeface="Arial"/>
              </a:rPr>
            </a:br>
            <a:br>
              <a:rPr lang="en-IN">
                <a:latin typeface="Arial"/>
                <a:ea typeface="Arial"/>
                <a:cs typeface="Arial"/>
                <a:sym typeface="Arial"/>
              </a:rPr>
            </a:br>
            <a:br>
              <a:rPr lang="en-IN">
                <a:latin typeface="Arial"/>
                <a:ea typeface="Arial"/>
                <a:cs typeface="Arial"/>
                <a:sym typeface="Arial"/>
              </a:rPr>
            </a:br>
            <a:br>
              <a:rPr lang="en-IN">
                <a:latin typeface="Arial"/>
                <a:ea typeface="Arial"/>
                <a:cs typeface="Arial"/>
                <a:sym typeface="Arial"/>
              </a:rPr>
            </a:br>
            <a:r>
              <a:rPr lang="en-IN" b="1">
                <a:latin typeface="Arial"/>
                <a:ea typeface="Arial"/>
                <a:cs typeface="Arial"/>
                <a:sym typeface="Arial"/>
              </a:rPr>
              <a:t>Findings:</a:t>
            </a:r>
            <a:endParaRPr>
              <a:latin typeface="Arial"/>
              <a:ea typeface="Arial"/>
              <a:cs typeface="Arial"/>
              <a:sym typeface="Arial"/>
            </a:endParaRPr>
          </a:p>
          <a:p>
            <a:pPr marL="457200" lvl="0" indent="-346710" algn="l" rtl="0">
              <a:lnSpc>
                <a:spcPct val="150000"/>
              </a:lnSpc>
              <a:spcBef>
                <a:spcPts val="1000"/>
              </a:spcBef>
              <a:spcAft>
                <a:spcPts val="0"/>
              </a:spcAft>
              <a:buSzPct val="100000"/>
              <a:buFont typeface="Arial"/>
              <a:buChar char="●"/>
            </a:pPr>
            <a:r>
              <a:rPr lang="en-IN">
                <a:latin typeface="Arial"/>
                <a:ea typeface="Arial"/>
                <a:cs typeface="Arial"/>
                <a:sym typeface="Arial"/>
              </a:rPr>
              <a:t>XGBoost outperformed all models in predictive accuracy and generalization.</a:t>
            </a:r>
            <a:endParaRPr>
              <a:latin typeface="Arial"/>
              <a:ea typeface="Arial"/>
              <a:cs typeface="Arial"/>
              <a:sym typeface="Arial"/>
            </a:endParaRPr>
          </a:p>
          <a:p>
            <a:pPr marL="457200" lvl="0" indent="-346710" algn="l" rtl="0">
              <a:lnSpc>
                <a:spcPct val="150000"/>
              </a:lnSpc>
              <a:spcBef>
                <a:spcPts val="0"/>
              </a:spcBef>
              <a:spcAft>
                <a:spcPts val="0"/>
              </a:spcAft>
              <a:buSzPct val="100000"/>
              <a:buFont typeface="Arial"/>
              <a:buChar char="●"/>
            </a:pPr>
            <a:r>
              <a:rPr lang="en-IN">
                <a:latin typeface="Arial"/>
                <a:ea typeface="Arial"/>
                <a:cs typeface="Arial"/>
                <a:sym typeface="Arial"/>
              </a:rPr>
              <a:t>Key churn factors: short tenure, month-to-month contracts, and electronic payments.</a:t>
            </a:r>
            <a:endParaRPr>
              <a:latin typeface="Arial"/>
              <a:ea typeface="Arial"/>
              <a:cs typeface="Arial"/>
              <a:sym typeface="Arial"/>
            </a:endParaRPr>
          </a:p>
          <a:p>
            <a:pPr marL="457200" lvl="0" indent="-346710" algn="l" rtl="0">
              <a:lnSpc>
                <a:spcPct val="150000"/>
              </a:lnSpc>
              <a:spcBef>
                <a:spcPts val="0"/>
              </a:spcBef>
              <a:spcAft>
                <a:spcPts val="0"/>
              </a:spcAft>
              <a:buSzPct val="100000"/>
              <a:buFont typeface="Arial"/>
              <a:buChar char="●"/>
            </a:pPr>
            <a:r>
              <a:rPr lang="en-IN">
                <a:latin typeface="Arial"/>
                <a:ea typeface="Arial"/>
                <a:cs typeface="Arial"/>
                <a:sym typeface="Arial"/>
              </a:rPr>
              <a:t>Results support segmented retention strategies like loyalty rewards and personalized offers.</a:t>
            </a:r>
            <a:endParaRPr>
              <a:latin typeface="Arial"/>
              <a:ea typeface="Arial"/>
              <a:cs typeface="Arial"/>
              <a:sym typeface="Arial"/>
            </a:endParaRPr>
          </a:p>
          <a:p>
            <a:pPr marL="0" lvl="0" indent="0" algn="l" rtl="0">
              <a:lnSpc>
                <a:spcPct val="90000"/>
              </a:lnSpc>
              <a:spcBef>
                <a:spcPts val="1000"/>
              </a:spcBef>
              <a:spcAft>
                <a:spcPts val="0"/>
              </a:spcAft>
              <a:buClr>
                <a:schemeClr val="dk1"/>
              </a:buClr>
              <a:buSzPct val="100000"/>
              <a:buNone/>
            </a:pPr>
            <a:endParaRPr>
              <a:latin typeface="Comic Sans MS"/>
              <a:ea typeface="Comic Sans MS"/>
              <a:cs typeface="Comic Sans MS"/>
              <a:sym typeface="Comic Sans MS"/>
            </a:endParaRPr>
          </a:p>
        </p:txBody>
      </p:sp>
      <p:sp>
        <p:nvSpPr>
          <p:cNvPr id="140" name="Google Shape;140;p8"/>
          <p:cNvSpPr txBox="1"/>
          <p:nvPr/>
        </p:nvSpPr>
        <p:spPr>
          <a:xfrm>
            <a:off x="174595" y="119525"/>
            <a:ext cx="11704018" cy="16312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cap="none">
                <a:solidFill>
                  <a:srgbClr val="FF0000"/>
                </a:solidFill>
                <a:latin typeface="Calibri"/>
                <a:ea typeface="Calibri"/>
                <a:cs typeface="Calibri"/>
                <a:sym typeface="Calibri"/>
              </a:rPr>
              <a:t>                              International Conference on Advanced Systems and Emerging Technologies- ICASET 2025</a:t>
            </a:r>
            <a:endParaRPr/>
          </a:p>
          <a:p>
            <a:pPr marL="0" marR="0" lvl="0" indent="0" algn="ctr" rtl="0">
              <a:spcBef>
                <a:spcPts val="0"/>
              </a:spcBef>
              <a:spcAft>
                <a:spcPts val="0"/>
              </a:spcAft>
              <a:buNone/>
            </a:pPr>
            <a:r>
              <a:rPr lang="en-IN" sz="2400" b="1" i="0" u="none" strike="noStrike" cap="none">
                <a:solidFill>
                  <a:srgbClr val="0070C0"/>
                </a:solidFill>
                <a:latin typeface="Calibri"/>
                <a:ea typeface="Calibri"/>
                <a:cs typeface="Calibri"/>
                <a:sym typeface="Calibri"/>
              </a:rPr>
              <a:t>06</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-07</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November 2025</a:t>
            </a:r>
            <a:endParaRPr/>
          </a:p>
          <a:p>
            <a:pPr marL="0" marR="0" lvl="0" indent="0" algn="ctr" rtl="0">
              <a:spcBef>
                <a:spcPts val="0"/>
              </a:spcBef>
              <a:spcAft>
                <a:spcPts val="0"/>
              </a:spcAft>
              <a:buNone/>
            </a:pPr>
            <a:endParaRPr sz="2800" b="0" i="0" u="none" strike="noStrike" cap="none">
              <a:solidFill>
                <a:srgbClr val="FF0000"/>
              </a:solidFill>
              <a:latin typeface="Calibri"/>
              <a:ea typeface="Calibri"/>
              <a:cs typeface="Calibri"/>
              <a:sym typeface="Calibri"/>
            </a:endParaRPr>
          </a:p>
        </p:txBody>
      </p:sp>
      <p:pic>
        <p:nvPicPr>
          <p:cNvPr id="141" name="Google Shape;141;p8"/>
          <p:cNvPicPr preferRelativeResize="0"/>
          <p:nvPr/>
        </p:nvPicPr>
        <p:blipFill rotWithShape="1">
          <a:blip r:embed="rId3">
            <a:alphaModFix/>
          </a:blip>
          <a:srcRect/>
          <a:stretch/>
        </p:blipFill>
        <p:spPr>
          <a:xfrm>
            <a:off x="0" y="0"/>
            <a:ext cx="2849335" cy="1126671"/>
          </a:xfrm>
          <a:prstGeom prst="rect">
            <a:avLst/>
          </a:prstGeom>
          <a:noFill/>
          <a:ln>
            <a:noFill/>
          </a:ln>
        </p:spPr>
      </p:pic>
      <p:pic>
        <p:nvPicPr>
          <p:cNvPr id="142" name="Google Shape;142;p8"/>
          <p:cNvPicPr preferRelativeResize="0"/>
          <p:nvPr/>
        </p:nvPicPr>
        <p:blipFill rotWithShape="1">
          <a:blip r:embed="rId4">
            <a:alphaModFix/>
          </a:blip>
          <a:srcRect r="2922" b="10841"/>
          <a:stretch/>
        </p:blipFill>
        <p:spPr>
          <a:xfrm>
            <a:off x="916425" y="2330750"/>
            <a:ext cx="9107525" cy="1770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9"/>
          <p:cNvSpPr txBox="1">
            <a:spLocks noGrp="1"/>
          </p:cNvSpPr>
          <p:nvPr>
            <p:ph type="subTitle" idx="1"/>
          </p:nvPr>
        </p:nvSpPr>
        <p:spPr>
          <a:xfrm>
            <a:off x="461650" y="1600200"/>
            <a:ext cx="11407800" cy="5185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IN" b="1">
                <a:latin typeface="Comic Sans MS"/>
                <a:ea typeface="Comic Sans MS"/>
                <a:cs typeface="Comic Sans MS"/>
                <a:sym typeface="Comic Sans MS"/>
              </a:rPr>
              <a:t>8.</a:t>
            </a:r>
            <a:r>
              <a:rPr lang="en-IN">
                <a:latin typeface="Comic Sans MS"/>
                <a:ea typeface="Comic Sans MS"/>
                <a:cs typeface="Comic Sans MS"/>
                <a:sym typeface="Comic Sans MS"/>
              </a:rPr>
              <a:t> </a:t>
            </a:r>
            <a:r>
              <a:rPr lang="en-IN" b="1">
                <a:latin typeface="Arial"/>
                <a:ea typeface="Arial"/>
                <a:cs typeface="Arial"/>
                <a:sym typeface="Arial"/>
              </a:rPr>
              <a:t>COMPARATIVE ANALYSIS: </a:t>
            </a:r>
            <a:endParaRPr b="1">
              <a:latin typeface="Arial"/>
              <a:ea typeface="Arial"/>
              <a:cs typeface="Arial"/>
              <a:sym typeface="Arial"/>
            </a:endParaRPr>
          </a:p>
          <a:p>
            <a:pPr marL="0" lvl="0" indent="0" algn="l" rtl="0">
              <a:lnSpc>
                <a:spcPct val="90000"/>
              </a:lnSpc>
              <a:spcBef>
                <a:spcPts val="1000"/>
              </a:spcBef>
              <a:spcAft>
                <a:spcPts val="0"/>
              </a:spcAft>
              <a:buClr>
                <a:schemeClr val="dk1"/>
              </a:buClr>
              <a:buSzPts val="2400"/>
              <a:buNone/>
            </a:pPr>
            <a:endParaRPr>
              <a:latin typeface="Comic Sans MS"/>
              <a:ea typeface="Comic Sans MS"/>
              <a:cs typeface="Comic Sans MS"/>
              <a:sym typeface="Comic Sans MS"/>
            </a:endParaRPr>
          </a:p>
          <a:p>
            <a:pPr marL="0" lvl="0" indent="0" algn="l" rtl="0">
              <a:lnSpc>
                <a:spcPct val="90000"/>
              </a:lnSpc>
              <a:spcBef>
                <a:spcPts val="1000"/>
              </a:spcBef>
              <a:spcAft>
                <a:spcPts val="0"/>
              </a:spcAft>
              <a:buClr>
                <a:schemeClr val="dk1"/>
              </a:buClr>
              <a:buSzPts val="2400"/>
              <a:buNone/>
            </a:pPr>
            <a:endParaRPr>
              <a:latin typeface="Comic Sans MS"/>
              <a:ea typeface="Comic Sans MS"/>
              <a:cs typeface="Comic Sans MS"/>
              <a:sym typeface="Comic Sans MS"/>
            </a:endParaRPr>
          </a:p>
          <a:p>
            <a:pPr marL="0" lvl="0" indent="0" algn="l" rtl="0">
              <a:lnSpc>
                <a:spcPct val="90000"/>
              </a:lnSpc>
              <a:spcBef>
                <a:spcPts val="1000"/>
              </a:spcBef>
              <a:spcAft>
                <a:spcPts val="0"/>
              </a:spcAft>
              <a:buClr>
                <a:schemeClr val="dk1"/>
              </a:buClr>
              <a:buSzPts val="2400"/>
              <a:buNone/>
            </a:pPr>
            <a:endParaRPr>
              <a:latin typeface="Comic Sans MS"/>
              <a:ea typeface="Comic Sans MS"/>
              <a:cs typeface="Comic Sans MS"/>
              <a:sym typeface="Comic Sans MS"/>
            </a:endParaRPr>
          </a:p>
          <a:p>
            <a:pPr marL="0" lvl="0" indent="0" algn="l" rtl="0">
              <a:lnSpc>
                <a:spcPct val="90000"/>
              </a:lnSpc>
              <a:spcBef>
                <a:spcPts val="1000"/>
              </a:spcBef>
              <a:spcAft>
                <a:spcPts val="0"/>
              </a:spcAft>
              <a:buClr>
                <a:schemeClr val="dk1"/>
              </a:buClr>
              <a:buSzPts val="2400"/>
              <a:buNone/>
            </a:pPr>
            <a:endParaRPr>
              <a:latin typeface="Comic Sans MS"/>
              <a:ea typeface="Comic Sans MS"/>
              <a:cs typeface="Comic Sans MS"/>
              <a:sym typeface="Comic Sans MS"/>
            </a:endParaRPr>
          </a:p>
        </p:txBody>
      </p:sp>
      <p:sp>
        <p:nvSpPr>
          <p:cNvPr id="148" name="Google Shape;148;p9"/>
          <p:cNvSpPr txBox="1"/>
          <p:nvPr/>
        </p:nvSpPr>
        <p:spPr>
          <a:xfrm>
            <a:off x="174595" y="119525"/>
            <a:ext cx="11704018" cy="16312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cap="none">
                <a:solidFill>
                  <a:srgbClr val="FF0000"/>
                </a:solidFill>
                <a:latin typeface="Calibri"/>
                <a:ea typeface="Calibri"/>
                <a:cs typeface="Calibri"/>
                <a:sym typeface="Calibri"/>
              </a:rPr>
              <a:t>                              International Conference on Advanced Systems and Emerging Technologies- ICASET 2025</a:t>
            </a:r>
            <a:endParaRPr/>
          </a:p>
          <a:p>
            <a:pPr marL="0" marR="0" lvl="0" indent="0" algn="ctr" rtl="0">
              <a:spcBef>
                <a:spcPts val="0"/>
              </a:spcBef>
              <a:spcAft>
                <a:spcPts val="0"/>
              </a:spcAft>
              <a:buNone/>
            </a:pPr>
            <a:r>
              <a:rPr lang="en-IN" sz="2400" b="1" i="0" u="none" strike="noStrike" cap="none">
                <a:solidFill>
                  <a:srgbClr val="0070C0"/>
                </a:solidFill>
                <a:latin typeface="Calibri"/>
                <a:ea typeface="Calibri"/>
                <a:cs typeface="Calibri"/>
                <a:sym typeface="Calibri"/>
              </a:rPr>
              <a:t>06</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-07</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November 2025</a:t>
            </a:r>
            <a:endParaRPr/>
          </a:p>
          <a:p>
            <a:pPr marL="0" marR="0" lvl="0" indent="0" algn="ctr" rtl="0">
              <a:spcBef>
                <a:spcPts val="0"/>
              </a:spcBef>
              <a:spcAft>
                <a:spcPts val="0"/>
              </a:spcAft>
              <a:buNone/>
            </a:pPr>
            <a:endParaRPr sz="2800" b="0" i="0" u="none" strike="noStrike" cap="none">
              <a:solidFill>
                <a:srgbClr val="FF0000"/>
              </a:solidFill>
              <a:latin typeface="Calibri"/>
              <a:ea typeface="Calibri"/>
              <a:cs typeface="Calibri"/>
              <a:sym typeface="Calibri"/>
            </a:endParaRPr>
          </a:p>
        </p:txBody>
      </p:sp>
      <p:pic>
        <p:nvPicPr>
          <p:cNvPr id="149" name="Google Shape;149;p9"/>
          <p:cNvPicPr preferRelativeResize="0"/>
          <p:nvPr/>
        </p:nvPicPr>
        <p:blipFill rotWithShape="1">
          <a:blip r:embed="rId3">
            <a:alphaModFix/>
          </a:blip>
          <a:srcRect/>
          <a:stretch/>
        </p:blipFill>
        <p:spPr>
          <a:xfrm>
            <a:off x="0" y="0"/>
            <a:ext cx="2849335" cy="1126671"/>
          </a:xfrm>
          <a:prstGeom prst="rect">
            <a:avLst/>
          </a:prstGeom>
          <a:noFill/>
          <a:ln>
            <a:noFill/>
          </a:ln>
        </p:spPr>
      </p:pic>
      <p:pic>
        <p:nvPicPr>
          <p:cNvPr id="150" name="Google Shape;150;p9"/>
          <p:cNvPicPr preferRelativeResize="0"/>
          <p:nvPr/>
        </p:nvPicPr>
        <p:blipFill>
          <a:blip r:embed="rId4">
            <a:alphaModFix/>
          </a:blip>
          <a:stretch>
            <a:fillRect/>
          </a:stretch>
        </p:blipFill>
        <p:spPr>
          <a:xfrm>
            <a:off x="2101250" y="2097425"/>
            <a:ext cx="7673974" cy="45751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0"/>
          <p:cNvSpPr txBox="1">
            <a:spLocks noGrp="1"/>
          </p:cNvSpPr>
          <p:nvPr>
            <p:ph type="subTitle" idx="1"/>
          </p:nvPr>
        </p:nvSpPr>
        <p:spPr>
          <a:xfrm>
            <a:off x="461639" y="1571625"/>
            <a:ext cx="11407806" cy="4820297"/>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n-IN" b="1">
                <a:latin typeface="Arial"/>
                <a:ea typeface="Arial"/>
                <a:cs typeface="Arial"/>
                <a:sym typeface="Arial"/>
              </a:rPr>
              <a:t>9. CONCLUSION &amp; FUTURE WORK :</a:t>
            </a:r>
            <a:endParaRPr b="1">
              <a:latin typeface="Arial"/>
              <a:ea typeface="Arial"/>
              <a:cs typeface="Arial"/>
              <a:sym typeface="Arial"/>
            </a:endParaRPr>
          </a:p>
          <a:p>
            <a:pPr marL="0" lvl="0" indent="0" algn="l" rtl="0">
              <a:lnSpc>
                <a:spcPct val="90000"/>
              </a:lnSpc>
              <a:spcBef>
                <a:spcPts val="0"/>
              </a:spcBef>
              <a:spcAft>
                <a:spcPts val="0"/>
              </a:spcAft>
              <a:buClr>
                <a:schemeClr val="dk1"/>
              </a:buClr>
              <a:buSzPct val="100000"/>
              <a:buNone/>
            </a:pPr>
            <a:endParaRPr>
              <a:latin typeface="Comic Sans MS"/>
              <a:ea typeface="Comic Sans MS"/>
              <a:cs typeface="Comic Sans MS"/>
              <a:sym typeface="Comic Sans MS"/>
            </a:endParaRPr>
          </a:p>
          <a:p>
            <a:pPr marL="0" lvl="0" indent="0" algn="l" rtl="0">
              <a:lnSpc>
                <a:spcPct val="115000"/>
              </a:lnSpc>
              <a:spcBef>
                <a:spcPts val="0"/>
              </a:spcBef>
              <a:spcAft>
                <a:spcPts val="0"/>
              </a:spcAft>
              <a:buNone/>
            </a:pPr>
            <a:r>
              <a:rPr lang="en-IN" sz="2200" b="1">
                <a:latin typeface="Arial"/>
                <a:ea typeface="Arial"/>
                <a:cs typeface="Arial"/>
                <a:sym typeface="Arial"/>
              </a:rPr>
              <a:t>Conclusion:</a:t>
            </a:r>
            <a:endParaRPr sz="2200" b="1">
              <a:latin typeface="Arial"/>
              <a:ea typeface="Arial"/>
              <a:cs typeface="Arial"/>
              <a:sym typeface="Arial"/>
            </a:endParaRPr>
          </a:p>
          <a:p>
            <a:pPr marL="0" lvl="0" indent="0" algn="l" rtl="0">
              <a:lnSpc>
                <a:spcPct val="115000"/>
              </a:lnSpc>
              <a:spcBef>
                <a:spcPts val="0"/>
              </a:spcBef>
              <a:spcAft>
                <a:spcPts val="0"/>
              </a:spcAft>
              <a:buClr>
                <a:schemeClr val="dk1"/>
              </a:buClr>
              <a:buSzPct val="50000"/>
              <a:buFont typeface="Arial"/>
              <a:buNone/>
            </a:pPr>
            <a:r>
              <a:rPr lang="en-IN" sz="2200">
                <a:latin typeface="Arial"/>
                <a:ea typeface="Arial"/>
                <a:cs typeface="Arial"/>
                <a:sym typeface="Arial"/>
              </a:rPr>
              <a:t>The proposed churn prediction and retention framework effectively identifies at-risk customers using machine learning, with XGBoost delivering the best performance.</a:t>
            </a:r>
            <a:endParaRPr sz="2200">
              <a:latin typeface="Arial"/>
              <a:ea typeface="Arial"/>
              <a:cs typeface="Arial"/>
              <a:sym typeface="Arial"/>
            </a:endParaRPr>
          </a:p>
          <a:p>
            <a:pPr marL="0" lvl="0" indent="0" algn="l" rtl="0">
              <a:lnSpc>
                <a:spcPct val="115000"/>
              </a:lnSpc>
              <a:spcBef>
                <a:spcPts val="0"/>
              </a:spcBef>
              <a:spcAft>
                <a:spcPts val="0"/>
              </a:spcAft>
              <a:buClr>
                <a:schemeClr val="dk1"/>
              </a:buClr>
              <a:buSzPct val="50000"/>
              <a:buFont typeface="Arial"/>
              <a:buNone/>
            </a:pPr>
            <a:r>
              <a:rPr lang="en-IN" sz="2200">
                <a:latin typeface="Arial"/>
                <a:ea typeface="Arial"/>
                <a:cs typeface="Arial"/>
                <a:sym typeface="Arial"/>
              </a:rPr>
              <a:t>It bridges prediction and action through a hybrid predictive–prescriptive approach, improving retention and profitability.</a:t>
            </a:r>
            <a:endParaRPr sz="2200">
              <a:latin typeface="Arial"/>
              <a:ea typeface="Arial"/>
              <a:cs typeface="Arial"/>
              <a:sym typeface="Arial"/>
            </a:endParaRPr>
          </a:p>
          <a:p>
            <a:pPr marL="0" lvl="0" indent="0" algn="l" rtl="0">
              <a:lnSpc>
                <a:spcPct val="115000"/>
              </a:lnSpc>
              <a:spcBef>
                <a:spcPts val="0"/>
              </a:spcBef>
              <a:spcAft>
                <a:spcPts val="0"/>
              </a:spcAft>
              <a:buClr>
                <a:schemeClr val="dk1"/>
              </a:buClr>
              <a:buSzPct val="50000"/>
              <a:buFont typeface="Arial"/>
              <a:buNone/>
            </a:pPr>
            <a:endParaRPr sz="2200">
              <a:latin typeface="Arial"/>
              <a:ea typeface="Arial"/>
              <a:cs typeface="Arial"/>
              <a:sym typeface="Arial"/>
            </a:endParaRPr>
          </a:p>
          <a:p>
            <a:pPr marL="0" lvl="0" indent="0" algn="l" rtl="0">
              <a:lnSpc>
                <a:spcPct val="115000"/>
              </a:lnSpc>
              <a:spcBef>
                <a:spcPts val="0"/>
              </a:spcBef>
              <a:spcAft>
                <a:spcPts val="0"/>
              </a:spcAft>
              <a:buClr>
                <a:schemeClr val="dk1"/>
              </a:buClr>
              <a:buSzPct val="50000"/>
              <a:buFont typeface="Arial"/>
              <a:buNone/>
            </a:pPr>
            <a:r>
              <a:rPr lang="en-IN" sz="2200" b="1">
                <a:latin typeface="Arial"/>
                <a:ea typeface="Arial"/>
                <a:cs typeface="Arial"/>
                <a:sym typeface="Arial"/>
              </a:rPr>
              <a:t>Future Work:</a:t>
            </a:r>
            <a:endParaRPr sz="2200" b="1">
              <a:latin typeface="Arial"/>
              <a:ea typeface="Arial"/>
              <a:cs typeface="Arial"/>
              <a:sym typeface="Arial"/>
            </a:endParaRPr>
          </a:p>
          <a:p>
            <a:pPr marL="0" lvl="0" indent="0" algn="l" rtl="0">
              <a:lnSpc>
                <a:spcPct val="115000"/>
              </a:lnSpc>
              <a:spcBef>
                <a:spcPts val="0"/>
              </a:spcBef>
              <a:spcAft>
                <a:spcPts val="0"/>
              </a:spcAft>
              <a:buClr>
                <a:schemeClr val="dk1"/>
              </a:buClr>
              <a:buSzPct val="50000"/>
              <a:buFont typeface="Arial"/>
              <a:buNone/>
            </a:pPr>
            <a:endParaRPr sz="2200">
              <a:latin typeface="Arial"/>
              <a:ea typeface="Arial"/>
              <a:cs typeface="Arial"/>
              <a:sym typeface="Arial"/>
            </a:endParaRPr>
          </a:p>
          <a:p>
            <a:pPr marL="457200" lvl="0" indent="-357822" algn="l" rtl="0">
              <a:lnSpc>
                <a:spcPct val="115000"/>
              </a:lnSpc>
              <a:spcBef>
                <a:spcPts val="0"/>
              </a:spcBef>
              <a:spcAft>
                <a:spcPts val="0"/>
              </a:spcAft>
              <a:buSzPct val="100000"/>
              <a:buFont typeface="Arial"/>
              <a:buChar char="●"/>
            </a:pPr>
            <a:r>
              <a:rPr lang="en-IN" sz="2200">
                <a:latin typeface="Arial"/>
                <a:ea typeface="Arial"/>
                <a:cs typeface="Arial"/>
                <a:sym typeface="Arial"/>
              </a:rPr>
              <a:t>Extend to deep learning and real-time deployment.</a:t>
            </a:r>
            <a:endParaRPr sz="2200">
              <a:latin typeface="Arial"/>
              <a:ea typeface="Arial"/>
              <a:cs typeface="Arial"/>
              <a:sym typeface="Arial"/>
            </a:endParaRPr>
          </a:p>
          <a:p>
            <a:pPr marL="457200" lvl="0" indent="0" algn="l" rtl="0">
              <a:lnSpc>
                <a:spcPct val="115000"/>
              </a:lnSpc>
              <a:spcBef>
                <a:spcPts val="0"/>
              </a:spcBef>
              <a:spcAft>
                <a:spcPts val="0"/>
              </a:spcAft>
              <a:buNone/>
            </a:pPr>
            <a:endParaRPr sz="2200">
              <a:latin typeface="Arial"/>
              <a:ea typeface="Arial"/>
              <a:cs typeface="Arial"/>
              <a:sym typeface="Arial"/>
            </a:endParaRPr>
          </a:p>
          <a:p>
            <a:pPr marL="457200" lvl="0" indent="-357822" algn="l" rtl="0">
              <a:lnSpc>
                <a:spcPct val="115000"/>
              </a:lnSpc>
              <a:spcBef>
                <a:spcPts val="0"/>
              </a:spcBef>
              <a:spcAft>
                <a:spcPts val="0"/>
              </a:spcAft>
              <a:buSzPct val="100000"/>
              <a:buFont typeface="Arial"/>
              <a:buChar char="●"/>
            </a:pPr>
            <a:r>
              <a:rPr lang="en-IN" sz="2200">
                <a:latin typeface="Arial"/>
                <a:ea typeface="Arial"/>
                <a:cs typeface="Arial"/>
                <a:sym typeface="Arial"/>
              </a:rPr>
              <a:t>Add explainable AI for better interpretability.</a:t>
            </a:r>
            <a:endParaRPr sz="2200">
              <a:latin typeface="Arial"/>
              <a:ea typeface="Arial"/>
              <a:cs typeface="Arial"/>
              <a:sym typeface="Arial"/>
            </a:endParaRPr>
          </a:p>
          <a:p>
            <a:pPr marL="457200" lvl="0" indent="0" algn="l" rtl="0">
              <a:lnSpc>
                <a:spcPct val="115000"/>
              </a:lnSpc>
              <a:spcBef>
                <a:spcPts val="0"/>
              </a:spcBef>
              <a:spcAft>
                <a:spcPts val="0"/>
              </a:spcAft>
              <a:buNone/>
            </a:pPr>
            <a:endParaRPr sz="2200">
              <a:latin typeface="Arial"/>
              <a:ea typeface="Arial"/>
              <a:cs typeface="Arial"/>
              <a:sym typeface="Arial"/>
            </a:endParaRPr>
          </a:p>
          <a:p>
            <a:pPr marL="457200" lvl="0" indent="-357822" algn="l" rtl="0">
              <a:lnSpc>
                <a:spcPct val="115000"/>
              </a:lnSpc>
              <a:spcBef>
                <a:spcPts val="0"/>
              </a:spcBef>
              <a:spcAft>
                <a:spcPts val="0"/>
              </a:spcAft>
              <a:buSzPct val="100000"/>
              <a:buFont typeface="Arial"/>
              <a:buChar char="●"/>
            </a:pPr>
            <a:r>
              <a:rPr lang="en-IN" sz="2200">
                <a:latin typeface="Arial"/>
                <a:ea typeface="Arial"/>
                <a:cs typeface="Arial"/>
                <a:sym typeface="Arial"/>
              </a:rPr>
              <a:t>Expand to multi-service providers like OTT and broadband.</a:t>
            </a:r>
            <a:endParaRPr sz="2200">
              <a:latin typeface="Arial"/>
              <a:ea typeface="Arial"/>
              <a:cs typeface="Arial"/>
              <a:sym typeface="Arial"/>
            </a:endParaRPr>
          </a:p>
          <a:p>
            <a:pPr marL="457200" lvl="0" indent="0" algn="l" rtl="0">
              <a:lnSpc>
                <a:spcPct val="90000"/>
              </a:lnSpc>
              <a:spcBef>
                <a:spcPts val="0"/>
              </a:spcBef>
              <a:spcAft>
                <a:spcPts val="0"/>
              </a:spcAft>
              <a:buNone/>
            </a:pPr>
            <a:endParaRPr>
              <a:latin typeface="Arial"/>
              <a:ea typeface="Arial"/>
              <a:cs typeface="Arial"/>
              <a:sym typeface="Arial"/>
            </a:endParaRPr>
          </a:p>
        </p:txBody>
      </p:sp>
      <p:sp>
        <p:nvSpPr>
          <p:cNvPr id="156" name="Google Shape;156;p10"/>
          <p:cNvSpPr txBox="1"/>
          <p:nvPr/>
        </p:nvSpPr>
        <p:spPr>
          <a:xfrm>
            <a:off x="174595" y="119525"/>
            <a:ext cx="11704018" cy="16312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cap="none">
                <a:solidFill>
                  <a:srgbClr val="FF0000"/>
                </a:solidFill>
                <a:latin typeface="Calibri"/>
                <a:ea typeface="Calibri"/>
                <a:cs typeface="Calibri"/>
                <a:sym typeface="Calibri"/>
              </a:rPr>
              <a:t>                              International Conference on Advanced Systems and Emerging Technologies- ICASET 2025</a:t>
            </a:r>
            <a:endParaRPr/>
          </a:p>
          <a:p>
            <a:pPr marL="0" marR="0" lvl="0" indent="0" algn="ctr" rtl="0">
              <a:spcBef>
                <a:spcPts val="0"/>
              </a:spcBef>
              <a:spcAft>
                <a:spcPts val="0"/>
              </a:spcAft>
              <a:buNone/>
            </a:pPr>
            <a:r>
              <a:rPr lang="en-IN" sz="2400" b="1" i="0" u="none" strike="noStrike" cap="none">
                <a:solidFill>
                  <a:srgbClr val="0070C0"/>
                </a:solidFill>
                <a:latin typeface="Calibri"/>
                <a:ea typeface="Calibri"/>
                <a:cs typeface="Calibri"/>
                <a:sym typeface="Calibri"/>
              </a:rPr>
              <a:t>06</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-07</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November 2025</a:t>
            </a:r>
            <a:endParaRPr/>
          </a:p>
          <a:p>
            <a:pPr marL="0" marR="0" lvl="0" indent="0" algn="ctr" rtl="0">
              <a:spcBef>
                <a:spcPts val="0"/>
              </a:spcBef>
              <a:spcAft>
                <a:spcPts val="0"/>
              </a:spcAft>
              <a:buNone/>
            </a:pPr>
            <a:endParaRPr sz="2800" b="0" i="0" u="none" strike="noStrike" cap="none">
              <a:solidFill>
                <a:srgbClr val="FF0000"/>
              </a:solidFill>
              <a:latin typeface="Calibri"/>
              <a:ea typeface="Calibri"/>
              <a:cs typeface="Calibri"/>
              <a:sym typeface="Calibri"/>
            </a:endParaRPr>
          </a:p>
        </p:txBody>
      </p:sp>
      <p:pic>
        <p:nvPicPr>
          <p:cNvPr id="157" name="Google Shape;157;p10"/>
          <p:cNvPicPr preferRelativeResize="0"/>
          <p:nvPr/>
        </p:nvPicPr>
        <p:blipFill rotWithShape="1">
          <a:blip r:embed="rId3">
            <a:alphaModFix/>
          </a:blip>
          <a:srcRect/>
          <a:stretch/>
        </p:blipFill>
        <p:spPr>
          <a:xfrm>
            <a:off x="0" y="0"/>
            <a:ext cx="2849335" cy="112667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1"/>
          <p:cNvSpPr txBox="1">
            <a:spLocks noGrp="1"/>
          </p:cNvSpPr>
          <p:nvPr>
            <p:ph type="subTitle" idx="1"/>
          </p:nvPr>
        </p:nvSpPr>
        <p:spPr>
          <a:xfrm>
            <a:off x="461639" y="1733550"/>
            <a:ext cx="11407800" cy="4658400"/>
          </a:xfrm>
          <a:prstGeom prst="rect">
            <a:avLst/>
          </a:prstGeom>
          <a:noFill/>
          <a:ln>
            <a:noFill/>
          </a:ln>
        </p:spPr>
        <p:txBody>
          <a:bodyPr spcFirstLastPara="1" wrap="square" lIns="91425" tIns="45700" rIns="91425" bIns="45700" anchor="t" anchorCtr="0">
            <a:normAutofit fontScale="40000" lnSpcReduction="10000"/>
          </a:bodyPr>
          <a:lstStyle/>
          <a:p>
            <a:pPr marL="0" lvl="0" indent="0" algn="l" rtl="0">
              <a:lnSpc>
                <a:spcPct val="90000"/>
              </a:lnSpc>
              <a:spcBef>
                <a:spcPts val="0"/>
              </a:spcBef>
              <a:spcAft>
                <a:spcPts val="0"/>
              </a:spcAft>
              <a:buClr>
                <a:schemeClr val="dk1"/>
              </a:buClr>
              <a:buSzPct val="39393"/>
              <a:buNone/>
            </a:pPr>
            <a:r>
              <a:rPr lang="en-IN" sz="6092" b="1">
                <a:latin typeface="Arial"/>
                <a:ea typeface="Arial"/>
                <a:cs typeface="Arial"/>
                <a:sym typeface="Arial"/>
              </a:rPr>
              <a:t>10. REFERENCES :</a:t>
            </a:r>
            <a:endParaRPr sz="6092" b="1">
              <a:latin typeface="Arial"/>
              <a:ea typeface="Arial"/>
              <a:cs typeface="Arial"/>
              <a:sym typeface="Arial"/>
            </a:endParaRPr>
          </a:p>
          <a:p>
            <a:pPr marL="0" lvl="0" indent="0" algn="l" rtl="0">
              <a:lnSpc>
                <a:spcPct val="90000"/>
              </a:lnSpc>
              <a:spcBef>
                <a:spcPts val="0"/>
              </a:spcBef>
              <a:spcAft>
                <a:spcPts val="0"/>
              </a:spcAft>
              <a:buClr>
                <a:schemeClr val="dk1"/>
              </a:buClr>
              <a:buSzPct val="100000"/>
              <a:buNone/>
            </a:pPr>
            <a:endParaRPr b="1">
              <a:latin typeface="Arial"/>
              <a:ea typeface="Arial"/>
              <a:cs typeface="Arial"/>
              <a:sym typeface="Arial"/>
            </a:endParaRPr>
          </a:p>
          <a:p>
            <a:pPr marL="0" lvl="0" indent="0" algn="l" rtl="0">
              <a:lnSpc>
                <a:spcPct val="90000"/>
              </a:lnSpc>
              <a:spcBef>
                <a:spcPts val="0"/>
              </a:spcBef>
              <a:spcAft>
                <a:spcPts val="0"/>
              </a:spcAft>
              <a:buClr>
                <a:schemeClr val="dk1"/>
              </a:buClr>
              <a:buSzPct val="100000"/>
              <a:buNone/>
            </a:pPr>
            <a:endParaRPr b="1">
              <a:latin typeface="Arial"/>
              <a:ea typeface="Arial"/>
              <a:cs typeface="Arial"/>
              <a:sym typeface="Arial"/>
            </a:endParaRPr>
          </a:p>
          <a:p>
            <a:pPr marL="0" lvl="0" indent="0" algn="l" rtl="0">
              <a:lnSpc>
                <a:spcPct val="130000"/>
              </a:lnSpc>
              <a:spcBef>
                <a:spcPts val="0"/>
              </a:spcBef>
              <a:spcAft>
                <a:spcPts val="0"/>
              </a:spcAft>
              <a:buClr>
                <a:schemeClr val="dk1"/>
              </a:buClr>
              <a:buSzPct val="30136"/>
              <a:buNone/>
            </a:pPr>
            <a:r>
              <a:rPr lang="en-IN" sz="3650">
                <a:latin typeface="Arial"/>
                <a:ea typeface="Arial"/>
                <a:cs typeface="Arial"/>
                <a:sym typeface="Arial"/>
              </a:rPr>
              <a:t>[1]	A. K. Ahmad, A. Jafar, and K. Aljoumaa, “Customer churn prediction in telecom using machine learning and social network analysis in big data platform,” J Big Data, vol. 6, no. 1, Apr. 2019, doi: 10.1186/s40537-019-0191-6.</a:t>
            </a:r>
            <a:endParaRPr sz="3650">
              <a:latin typeface="Arial"/>
              <a:ea typeface="Arial"/>
              <a:cs typeface="Arial"/>
              <a:sym typeface="Arial"/>
            </a:endParaRPr>
          </a:p>
          <a:p>
            <a:pPr marL="0" lvl="0" indent="0" algn="l" rtl="0">
              <a:lnSpc>
                <a:spcPct val="130000"/>
              </a:lnSpc>
              <a:spcBef>
                <a:spcPts val="0"/>
              </a:spcBef>
              <a:spcAft>
                <a:spcPts val="0"/>
              </a:spcAft>
              <a:buClr>
                <a:schemeClr val="dk1"/>
              </a:buClr>
              <a:buSzPct val="30136"/>
              <a:buNone/>
            </a:pPr>
            <a:r>
              <a:rPr lang="en-IN" sz="3650">
                <a:latin typeface="Arial"/>
                <a:ea typeface="Arial"/>
                <a:cs typeface="Arial"/>
                <a:sym typeface="Arial"/>
              </a:rPr>
              <a:t>[2]	J. B. Heide and K. H. Wathne, “Friends, Businesspeople, and Relationship Roles: A Conceptual Framework and a Research Agenda,” J Mark, vol. 70, no. 3, pp. 90–103, Jul. 2006, doi: 10.1509/JMKG.70.3.090.</a:t>
            </a:r>
            <a:endParaRPr sz="3650">
              <a:latin typeface="Arial"/>
              <a:ea typeface="Arial"/>
              <a:cs typeface="Arial"/>
              <a:sym typeface="Arial"/>
            </a:endParaRPr>
          </a:p>
          <a:p>
            <a:pPr marL="0" lvl="0" indent="0" algn="l" rtl="0">
              <a:lnSpc>
                <a:spcPct val="130000"/>
              </a:lnSpc>
              <a:spcBef>
                <a:spcPts val="0"/>
              </a:spcBef>
              <a:spcAft>
                <a:spcPts val="0"/>
              </a:spcAft>
              <a:buClr>
                <a:schemeClr val="dk1"/>
              </a:buClr>
              <a:buSzPct val="30136"/>
              <a:buNone/>
            </a:pPr>
            <a:r>
              <a:rPr lang="en-IN" sz="3650">
                <a:latin typeface="Arial"/>
                <a:ea typeface="Arial"/>
                <a:cs typeface="Arial"/>
                <a:sym typeface="Arial"/>
              </a:rPr>
              <a:t>[3]	J. A. Barrios, M. Torres-Alvarado, and A. Cavazos, “Neural, fuzzy and Grey-Box modelling for entry temperature prediction in a hot strip mill,” Expert Syst Appl, vol. 39, no. 3, pp. 3374–3384, Feb. 2012, doi: 10.1016/J.ESWA.2011.09.025.</a:t>
            </a:r>
            <a:endParaRPr sz="3650">
              <a:latin typeface="Arial"/>
              <a:ea typeface="Arial"/>
              <a:cs typeface="Arial"/>
              <a:sym typeface="Arial"/>
            </a:endParaRPr>
          </a:p>
          <a:p>
            <a:pPr marL="0" lvl="0" indent="0" algn="l" rtl="0">
              <a:lnSpc>
                <a:spcPct val="130000"/>
              </a:lnSpc>
              <a:spcBef>
                <a:spcPts val="0"/>
              </a:spcBef>
              <a:spcAft>
                <a:spcPts val="0"/>
              </a:spcAft>
              <a:buClr>
                <a:schemeClr val="dk1"/>
              </a:buClr>
              <a:buSzPct val="30136"/>
              <a:buNone/>
            </a:pPr>
            <a:r>
              <a:rPr lang="en-IN" sz="3650">
                <a:latin typeface="Arial"/>
                <a:ea typeface="Arial"/>
                <a:cs typeface="Arial"/>
                <a:sym typeface="Arial"/>
              </a:rPr>
              <a:t>[4]	C. Phua, H. Cao, J. B. Gomes, and M. N. Nguyen, “Predicting Near-Future Churners and Win-Backs in the Telecommunications Industry,” Oct. 2012, Accessed: Sep. 09, 2025. [Online]. Available: https://arxiv.org/pdf/1210.6891</a:t>
            </a:r>
            <a:endParaRPr sz="3650">
              <a:latin typeface="Arial"/>
              <a:ea typeface="Arial"/>
              <a:cs typeface="Arial"/>
              <a:sym typeface="Arial"/>
            </a:endParaRPr>
          </a:p>
          <a:p>
            <a:pPr marL="0" lvl="0" indent="0" algn="l" rtl="0">
              <a:lnSpc>
                <a:spcPct val="130000"/>
              </a:lnSpc>
              <a:spcBef>
                <a:spcPts val="0"/>
              </a:spcBef>
              <a:spcAft>
                <a:spcPts val="0"/>
              </a:spcAft>
              <a:buClr>
                <a:schemeClr val="dk1"/>
              </a:buClr>
              <a:buSzPct val="30136"/>
              <a:buNone/>
            </a:pPr>
            <a:r>
              <a:rPr lang="en-IN" sz="3650">
                <a:latin typeface="Arial"/>
                <a:ea typeface="Arial"/>
                <a:cs typeface="Arial"/>
                <a:sym typeface="Arial"/>
              </a:rPr>
              <a:t>[5]	L. Saha, H. K. Tripathy, T. Gaber, H. El-Gohary, and E. S. M. El-kenawy, “Deep Churn Prediction Method for Telecommunication Industry,” Sustainability 2023, Vol. 15, Page 4543, vol. 15, no. 5, p. 4543, Mar. 2023, doi: 10.3390/SU15054543.</a:t>
            </a:r>
            <a:endParaRPr sz="3650">
              <a:latin typeface="Arial"/>
              <a:ea typeface="Arial"/>
              <a:cs typeface="Arial"/>
              <a:sym typeface="Arial"/>
            </a:endParaRPr>
          </a:p>
          <a:p>
            <a:pPr marL="0" lvl="0" indent="0" algn="l" rtl="0">
              <a:lnSpc>
                <a:spcPct val="130000"/>
              </a:lnSpc>
              <a:spcBef>
                <a:spcPts val="0"/>
              </a:spcBef>
              <a:spcAft>
                <a:spcPts val="0"/>
              </a:spcAft>
              <a:buClr>
                <a:schemeClr val="dk1"/>
              </a:buClr>
              <a:buSzPct val="30136"/>
              <a:buNone/>
            </a:pPr>
            <a:r>
              <a:rPr lang="en-IN" sz="3650">
                <a:latin typeface="Arial"/>
                <a:ea typeface="Arial"/>
                <a:cs typeface="Arial"/>
                <a:sym typeface="Arial"/>
              </a:rPr>
              <a:t>[6]	V. Chang, K. Hall, Q. A. Xu, F. O. Amao, M. A. Ganatra, and V. Benson, “Prediction of Customer Churn Behavior in the Telecommunication Industry Using Machine Learning Models,” Algorithms 2024, Vol. 17, Page 231, vol. 17, no. 6, p. 231, May 2024, doi: 10.3390/A17060231.</a:t>
            </a:r>
            <a:endParaRPr sz="3650">
              <a:latin typeface="Arial"/>
              <a:ea typeface="Arial"/>
              <a:cs typeface="Arial"/>
              <a:sym typeface="Arial"/>
            </a:endParaRPr>
          </a:p>
          <a:p>
            <a:pPr marL="0" lvl="0" indent="0" algn="l" rtl="0">
              <a:lnSpc>
                <a:spcPct val="130000"/>
              </a:lnSpc>
              <a:spcBef>
                <a:spcPts val="0"/>
              </a:spcBef>
              <a:spcAft>
                <a:spcPts val="0"/>
              </a:spcAft>
              <a:buClr>
                <a:schemeClr val="dk1"/>
              </a:buClr>
              <a:buSzPct val="30136"/>
              <a:buNone/>
            </a:pPr>
            <a:r>
              <a:rPr lang="en-IN" sz="3650">
                <a:latin typeface="Arial"/>
                <a:ea typeface="Arial"/>
                <a:cs typeface="Arial"/>
                <a:sym typeface="Arial"/>
              </a:rPr>
              <a:t>[7]	M. V. Sokolova and A. Fernández-Caballero, “Evaluation of environmental impact upon human health with DeciMaS framework,” Expert Syst Appl, vol. 39, no. 3, pp. 3469–3483, Feb. 2012, doi: 10.1016/J.ESWA.2011.09.037</a:t>
            </a:r>
            <a:r>
              <a:rPr lang="en-IN" sz="3650" b="1">
                <a:latin typeface="Arial"/>
                <a:ea typeface="Arial"/>
                <a:cs typeface="Arial"/>
                <a:sym typeface="Arial"/>
              </a:rPr>
              <a:t>.</a:t>
            </a:r>
            <a:endParaRPr sz="3650" b="1">
              <a:latin typeface="Arial"/>
              <a:ea typeface="Arial"/>
              <a:cs typeface="Arial"/>
              <a:sym typeface="Arial"/>
            </a:endParaRPr>
          </a:p>
          <a:p>
            <a:pPr marL="0" lvl="0" indent="0" algn="l" rtl="0">
              <a:lnSpc>
                <a:spcPct val="150000"/>
              </a:lnSpc>
              <a:spcBef>
                <a:spcPts val="0"/>
              </a:spcBef>
              <a:spcAft>
                <a:spcPts val="0"/>
              </a:spcAft>
              <a:buClr>
                <a:schemeClr val="dk1"/>
              </a:buClr>
              <a:buSzPct val="45833"/>
              <a:buFont typeface="Arial"/>
              <a:buNone/>
            </a:pPr>
            <a:endParaRPr b="1">
              <a:latin typeface="Arial"/>
              <a:ea typeface="Arial"/>
              <a:cs typeface="Arial"/>
              <a:sym typeface="Arial"/>
            </a:endParaRPr>
          </a:p>
          <a:p>
            <a:pPr marL="0" lvl="0" indent="0" algn="l" rtl="0">
              <a:spcBef>
                <a:spcPts val="0"/>
              </a:spcBef>
              <a:spcAft>
                <a:spcPts val="0"/>
              </a:spcAft>
              <a:buClr>
                <a:schemeClr val="dk1"/>
              </a:buClr>
              <a:buSzPct val="45833"/>
              <a:buFont typeface="Arial"/>
              <a:buNone/>
            </a:pPr>
            <a:endParaRPr b="1">
              <a:latin typeface="Arial"/>
              <a:ea typeface="Arial"/>
              <a:cs typeface="Arial"/>
              <a:sym typeface="Arial"/>
            </a:endParaRPr>
          </a:p>
          <a:p>
            <a:pPr marL="0" lvl="0" indent="0" algn="l" rtl="0">
              <a:lnSpc>
                <a:spcPct val="90000"/>
              </a:lnSpc>
              <a:spcBef>
                <a:spcPts val="0"/>
              </a:spcBef>
              <a:spcAft>
                <a:spcPts val="0"/>
              </a:spcAft>
              <a:buClr>
                <a:schemeClr val="dk1"/>
              </a:buClr>
              <a:buSzPct val="100000"/>
              <a:buNone/>
            </a:pPr>
            <a:endParaRPr b="1">
              <a:latin typeface="Arial"/>
              <a:ea typeface="Arial"/>
              <a:cs typeface="Arial"/>
              <a:sym typeface="Arial"/>
            </a:endParaRPr>
          </a:p>
          <a:p>
            <a:pPr marL="0" lvl="0" indent="0" algn="l" rtl="0">
              <a:lnSpc>
                <a:spcPct val="90000"/>
              </a:lnSpc>
              <a:spcBef>
                <a:spcPts val="1000"/>
              </a:spcBef>
              <a:spcAft>
                <a:spcPts val="0"/>
              </a:spcAft>
              <a:buClr>
                <a:schemeClr val="dk1"/>
              </a:buClr>
              <a:buSzPct val="100000"/>
              <a:buFont typeface="Arial"/>
              <a:buNone/>
            </a:pPr>
            <a:endParaRPr/>
          </a:p>
        </p:txBody>
      </p:sp>
      <p:sp>
        <p:nvSpPr>
          <p:cNvPr id="163" name="Google Shape;163;p11"/>
          <p:cNvSpPr txBox="1"/>
          <p:nvPr/>
        </p:nvSpPr>
        <p:spPr>
          <a:xfrm>
            <a:off x="174595" y="119525"/>
            <a:ext cx="11703900" cy="16311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cap="none">
                <a:solidFill>
                  <a:srgbClr val="FF0000"/>
                </a:solidFill>
                <a:latin typeface="Calibri"/>
                <a:ea typeface="Calibri"/>
                <a:cs typeface="Calibri"/>
                <a:sym typeface="Calibri"/>
              </a:rPr>
              <a:t>                              International Conference on Advanced Systems and Emerging Technologies- ICASET 2025</a:t>
            </a:r>
            <a:endParaRPr/>
          </a:p>
          <a:p>
            <a:pPr marL="0" marR="0" lvl="0" indent="0" algn="ctr" rtl="0">
              <a:spcBef>
                <a:spcPts val="0"/>
              </a:spcBef>
              <a:spcAft>
                <a:spcPts val="0"/>
              </a:spcAft>
              <a:buNone/>
            </a:pPr>
            <a:r>
              <a:rPr lang="en-IN" sz="2400" b="1" i="0" u="none" strike="noStrike" cap="none">
                <a:solidFill>
                  <a:srgbClr val="0070C0"/>
                </a:solidFill>
                <a:latin typeface="Calibri"/>
                <a:ea typeface="Calibri"/>
                <a:cs typeface="Calibri"/>
                <a:sym typeface="Calibri"/>
              </a:rPr>
              <a:t>06</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-07</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November 2025</a:t>
            </a:r>
            <a:endParaRPr/>
          </a:p>
          <a:p>
            <a:pPr marL="0" marR="0" lvl="0" indent="0" algn="ctr" rtl="0">
              <a:spcBef>
                <a:spcPts val="0"/>
              </a:spcBef>
              <a:spcAft>
                <a:spcPts val="0"/>
              </a:spcAft>
              <a:buNone/>
            </a:pPr>
            <a:endParaRPr sz="2800" b="0" i="0" u="none" strike="noStrike" cap="none">
              <a:solidFill>
                <a:srgbClr val="FF0000"/>
              </a:solidFill>
              <a:latin typeface="Calibri"/>
              <a:ea typeface="Calibri"/>
              <a:cs typeface="Calibri"/>
              <a:sym typeface="Calibri"/>
            </a:endParaRPr>
          </a:p>
        </p:txBody>
      </p:sp>
      <p:pic>
        <p:nvPicPr>
          <p:cNvPr id="164" name="Google Shape;164;p11"/>
          <p:cNvPicPr preferRelativeResize="0"/>
          <p:nvPr/>
        </p:nvPicPr>
        <p:blipFill rotWithShape="1">
          <a:blip r:embed="rId3">
            <a:alphaModFix/>
          </a:blip>
          <a:srcRect/>
          <a:stretch/>
        </p:blipFill>
        <p:spPr>
          <a:xfrm>
            <a:off x="0" y="0"/>
            <a:ext cx="2849336" cy="112667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3a0fbd53754_0_35"/>
          <p:cNvSpPr txBox="1">
            <a:spLocks noGrp="1"/>
          </p:cNvSpPr>
          <p:nvPr>
            <p:ph type="subTitle" idx="1"/>
          </p:nvPr>
        </p:nvSpPr>
        <p:spPr>
          <a:xfrm>
            <a:off x="461639" y="1733550"/>
            <a:ext cx="11407800" cy="4658400"/>
          </a:xfrm>
          <a:prstGeom prst="rect">
            <a:avLst/>
          </a:prstGeom>
          <a:noFill/>
          <a:ln>
            <a:noFill/>
          </a:ln>
        </p:spPr>
        <p:txBody>
          <a:bodyPr spcFirstLastPara="1" wrap="square" lIns="91425" tIns="45700" rIns="91425" bIns="45700" anchor="t" anchorCtr="0">
            <a:noAutofit/>
          </a:bodyPr>
          <a:lstStyle/>
          <a:p>
            <a:pPr marL="0" lvl="0" indent="0" algn="l" rtl="0">
              <a:lnSpc>
                <a:spcPct val="130000"/>
              </a:lnSpc>
              <a:spcBef>
                <a:spcPts val="0"/>
              </a:spcBef>
              <a:spcAft>
                <a:spcPts val="0"/>
              </a:spcAft>
              <a:buClr>
                <a:schemeClr val="dk1"/>
              </a:buClr>
              <a:buSzPts val="1100"/>
              <a:buFont typeface="Arial"/>
              <a:buNone/>
            </a:pPr>
            <a:r>
              <a:rPr lang="en-IN" sz="1200">
                <a:latin typeface="Arial"/>
                <a:ea typeface="Arial"/>
                <a:cs typeface="Arial"/>
                <a:sym typeface="Arial"/>
              </a:rPr>
              <a:t>[8]	A. De Caigny, K. Coussement, and K. W. De Bock, “A new hybrid classification algorithm for customer churn prediction based on logistic regression and decision trees,” Eur J Oper Res, vol. 269(2), no. 2, pp. 760–772, Sep. 2018, doi: 10.1016/j.ejor.2018.02.009.</a:t>
            </a:r>
            <a:endParaRPr sz="1200">
              <a:latin typeface="Arial"/>
              <a:ea typeface="Arial"/>
              <a:cs typeface="Arial"/>
              <a:sym typeface="Arial"/>
            </a:endParaRPr>
          </a:p>
          <a:p>
            <a:pPr marL="0" lvl="0" indent="0" algn="l" rtl="0">
              <a:lnSpc>
                <a:spcPct val="130000"/>
              </a:lnSpc>
              <a:spcBef>
                <a:spcPts val="0"/>
              </a:spcBef>
              <a:spcAft>
                <a:spcPts val="0"/>
              </a:spcAft>
              <a:buClr>
                <a:schemeClr val="dk1"/>
              </a:buClr>
              <a:buSzPts val="1100"/>
              <a:buFont typeface="Arial"/>
              <a:buNone/>
            </a:pPr>
            <a:r>
              <a:rPr lang="en-IN" sz="1200">
                <a:latin typeface="Arial"/>
                <a:ea typeface="Arial"/>
                <a:cs typeface="Arial"/>
                <a:sym typeface="Arial"/>
              </a:rPr>
              <a:t>[9]	D. Van den Poel and B. Larivière, “Customer Attrition Analysis For Financial Services Using Proportional Hazard Models,” Eur J Oper Res, vol. 157, no. 1, pp. 196–217, Aug. 2004, doi: 10.1016/s0377-2217(03)00069-9.</a:t>
            </a:r>
            <a:endParaRPr sz="1200">
              <a:latin typeface="Arial"/>
              <a:ea typeface="Arial"/>
              <a:cs typeface="Arial"/>
              <a:sym typeface="Arial"/>
            </a:endParaRPr>
          </a:p>
          <a:p>
            <a:pPr marL="0" lvl="0" indent="0" algn="l" rtl="0">
              <a:lnSpc>
                <a:spcPct val="130000"/>
              </a:lnSpc>
              <a:spcBef>
                <a:spcPts val="0"/>
              </a:spcBef>
              <a:spcAft>
                <a:spcPts val="0"/>
              </a:spcAft>
              <a:buClr>
                <a:schemeClr val="dk1"/>
              </a:buClr>
              <a:buSzPts val="1100"/>
              <a:buFont typeface="Arial"/>
              <a:buNone/>
            </a:pPr>
            <a:r>
              <a:rPr lang="en-IN" sz="1200">
                <a:latin typeface="Arial"/>
                <a:ea typeface="Arial"/>
                <a:cs typeface="Arial"/>
                <a:sym typeface="Arial"/>
              </a:rPr>
              <a:t>[10]	A. K. Ahmad, A. Jafar, and K. Aljoumaa, “Customer churn prediction in telecom using machine learning in big data platform,” J Big Data, vol. 6, no. 1, pp. 1–24, Dec. 2019, doi: 10.1186/S40537-019-0191-6/TABLES/4.</a:t>
            </a:r>
            <a:endParaRPr sz="1200">
              <a:latin typeface="Arial"/>
              <a:ea typeface="Arial"/>
              <a:cs typeface="Arial"/>
              <a:sym typeface="Arial"/>
            </a:endParaRPr>
          </a:p>
          <a:p>
            <a:pPr marL="0" lvl="0" indent="0" algn="l" rtl="0">
              <a:lnSpc>
                <a:spcPct val="130000"/>
              </a:lnSpc>
              <a:spcBef>
                <a:spcPts val="0"/>
              </a:spcBef>
              <a:spcAft>
                <a:spcPts val="0"/>
              </a:spcAft>
              <a:buClr>
                <a:schemeClr val="dk1"/>
              </a:buClr>
              <a:buSzPts val="1100"/>
              <a:buFont typeface="Arial"/>
              <a:buNone/>
            </a:pPr>
            <a:r>
              <a:rPr lang="en-IN" sz="1200">
                <a:latin typeface="Arial"/>
                <a:ea typeface="Arial"/>
                <a:cs typeface="Arial"/>
                <a:sym typeface="Arial"/>
              </a:rPr>
              <a:t>[11]	V. Chang, K. Hall, Q. A. Xu, F. O. Amao, M. A. Ganatra, and V. Benson, “Prediction of Customer Churn Behavior in the Telecommunication Industry Using Machine Learning Models,” Algorithms 2024, Vol. 17, Page 231, vol. 17, no. 6, p. 231, May 2024, doi: 10.3390/A17060231.</a:t>
            </a:r>
            <a:endParaRPr sz="1200">
              <a:latin typeface="Arial"/>
              <a:ea typeface="Arial"/>
              <a:cs typeface="Arial"/>
              <a:sym typeface="Arial"/>
            </a:endParaRPr>
          </a:p>
          <a:p>
            <a:pPr marL="0" lvl="0" indent="0" algn="l" rtl="0">
              <a:lnSpc>
                <a:spcPct val="130000"/>
              </a:lnSpc>
              <a:spcBef>
                <a:spcPts val="0"/>
              </a:spcBef>
              <a:spcAft>
                <a:spcPts val="0"/>
              </a:spcAft>
              <a:buClr>
                <a:schemeClr val="dk1"/>
              </a:buClr>
              <a:buSzPts val="1100"/>
              <a:buFont typeface="Arial"/>
              <a:buNone/>
            </a:pPr>
            <a:r>
              <a:rPr lang="en-IN" sz="1200">
                <a:latin typeface="Arial"/>
                <a:ea typeface="Arial"/>
                <a:cs typeface="Arial"/>
                <a:sym typeface="Arial"/>
              </a:rPr>
              <a:t>[12]	K. Tabianan, S. Velu, and V. Ravi, “K-Means Clustering Approach for Intelligent Customer Segmentation Using Customer Purchase Behavior Data,” Sustainability 2022, Vol. 14, Page 7243, vol. 14, no. 12, p. 7243, Jun. 2022, doi: 10.3390/SU14127243.</a:t>
            </a:r>
            <a:endParaRPr sz="1200">
              <a:latin typeface="Arial"/>
              <a:ea typeface="Arial"/>
              <a:cs typeface="Arial"/>
              <a:sym typeface="Arial"/>
            </a:endParaRPr>
          </a:p>
          <a:p>
            <a:pPr marL="0" lvl="0" indent="0" algn="l" rtl="0">
              <a:lnSpc>
                <a:spcPct val="130000"/>
              </a:lnSpc>
              <a:spcBef>
                <a:spcPts val="0"/>
              </a:spcBef>
              <a:spcAft>
                <a:spcPts val="0"/>
              </a:spcAft>
              <a:buClr>
                <a:schemeClr val="dk1"/>
              </a:buClr>
              <a:buSzPts val="1100"/>
              <a:buFont typeface="Arial"/>
              <a:buNone/>
            </a:pPr>
            <a:r>
              <a:rPr lang="en-IN" sz="1200">
                <a:latin typeface="Arial"/>
                <a:ea typeface="Arial"/>
                <a:cs typeface="Arial"/>
                <a:sym typeface="Arial"/>
              </a:rPr>
              <a:t>[13]	M. T. Ribeiro, S. Singh, and C. Guestrin, “‘Why Should I Trust You?’: Explaining the Predictions of Any Classifier,” NAACL-HLT 2016 - 2016 Conference of the North American Chapter of the Association for Computational Linguistics: Human Language Technologies, Proceedings of the Demonstrations Session, pp. 97–101, Feb. 2016, doi: 10.18653/v1/n16-3020.</a:t>
            </a:r>
            <a:endParaRPr sz="1200">
              <a:latin typeface="Arial"/>
              <a:ea typeface="Arial"/>
              <a:cs typeface="Arial"/>
              <a:sym typeface="Arial"/>
            </a:endParaRPr>
          </a:p>
          <a:p>
            <a:pPr marL="0" lvl="0" indent="0" algn="l" rtl="0">
              <a:lnSpc>
                <a:spcPct val="130000"/>
              </a:lnSpc>
              <a:spcBef>
                <a:spcPts val="0"/>
              </a:spcBef>
              <a:spcAft>
                <a:spcPts val="0"/>
              </a:spcAft>
              <a:buClr>
                <a:schemeClr val="dk1"/>
              </a:buClr>
              <a:buSzPts val="1100"/>
              <a:buFont typeface="Arial"/>
              <a:buNone/>
            </a:pPr>
            <a:r>
              <a:rPr lang="en-IN" sz="1200">
                <a:latin typeface="Arial"/>
                <a:ea typeface="Arial"/>
                <a:cs typeface="Arial"/>
                <a:sym typeface="Arial"/>
              </a:rPr>
              <a:t>[14]	S. M. Lundberg, P. G. Allen, and S.-I. Lee, “A Unified Approach to Interpreting Model Predictions”, Accessed: Sep. 09, 2025. [Online]. Available: https://github.com/slundberg/shap</a:t>
            </a:r>
            <a:endParaRPr sz="1200">
              <a:latin typeface="Arial"/>
              <a:ea typeface="Arial"/>
              <a:cs typeface="Arial"/>
              <a:sym typeface="Arial"/>
            </a:endParaRPr>
          </a:p>
          <a:p>
            <a:pPr marL="0" lvl="0" indent="0" algn="l" rtl="0">
              <a:lnSpc>
                <a:spcPct val="130000"/>
              </a:lnSpc>
              <a:spcBef>
                <a:spcPts val="0"/>
              </a:spcBef>
              <a:spcAft>
                <a:spcPts val="0"/>
              </a:spcAft>
              <a:buClr>
                <a:schemeClr val="dk1"/>
              </a:buClr>
              <a:buSzPts val="1100"/>
              <a:buFont typeface="Arial"/>
              <a:buNone/>
            </a:pPr>
            <a:r>
              <a:rPr lang="en-IN" sz="1200">
                <a:latin typeface="Arial"/>
                <a:ea typeface="Arial"/>
                <a:cs typeface="Arial"/>
                <a:sym typeface="Arial"/>
              </a:rPr>
              <a:t>[15]	S. Ouf, K. T. Mahmoud, and M. A. Abdel-Fattah, “A proposed hybrid framework to improve the accuracy of customer churn prediction in telecom industry,” J Big Data, vol. 11, no. 1, pp. 1–27, Dec. 2024, doi: 10.1186/S40537-024-00922-9/TABLES/9.</a:t>
            </a:r>
            <a:endParaRPr sz="1200">
              <a:latin typeface="Arial"/>
              <a:ea typeface="Arial"/>
              <a:cs typeface="Arial"/>
              <a:sym typeface="Arial"/>
            </a:endParaRPr>
          </a:p>
          <a:p>
            <a:pPr marL="0" lvl="0" indent="0" algn="l" rtl="0">
              <a:lnSpc>
                <a:spcPct val="130000"/>
              </a:lnSpc>
              <a:spcBef>
                <a:spcPts val="0"/>
              </a:spcBef>
              <a:spcAft>
                <a:spcPts val="0"/>
              </a:spcAft>
              <a:buClr>
                <a:schemeClr val="dk1"/>
              </a:buClr>
              <a:buSzPts val="1100"/>
              <a:buFont typeface="Arial"/>
              <a:buNone/>
            </a:pPr>
            <a:r>
              <a:rPr lang="en-IN" sz="1200">
                <a:latin typeface="Arial"/>
                <a:ea typeface="Arial"/>
                <a:cs typeface="Arial"/>
                <a:sym typeface="Arial"/>
              </a:rPr>
              <a:t>[16]	V. Chang, K. Hall, Q. A. Xu, F. O. Amao, M. A. Ganatra, and V. Benson, “Prediction of Customer Churn Behavior in the Telecommunication Industry Using Machine Learning Models,” Algorithms 2024, Vol. 17, Page 231, vol. 17, no. 6, p. 231, May 2024, doi: 10.3390/A17060231.</a:t>
            </a:r>
            <a:endParaRPr sz="1200">
              <a:latin typeface="Arial"/>
              <a:ea typeface="Arial"/>
              <a:cs typeface="Arial"/>
              <a:sym typeface="Arial"/>
            </a:endParaRPr>
          </a:p>
          <a:p>
            <a:pPr marL="0" lvl="0" indent="0" algn="l" rtl="0">
              <a:lnSpc>
                <a:spcPct val="130000"/>
              </a:lnSpc>
              <a:spcBef>
                <a:spcPts val="0"/>
              </a:spcBef>
              <a:spcAft>
                <a:spcPts val="0"/>
              </a:spcAft>
              <a:buClr>
                <a:schemeClr val="dk1"/>
              </a:buClr>
              <a:buSzPts val="1100"/>
              <a:buFont typeface="Arial"/>
              <a:buNone/>
            </a:pPr>
            <a:endParaRPr sz="1200" b="1">
              <a:latin typeface="Arial"/>
              <a:ea typeface="Arial"/>
              <a:cs typeface="Arial"/>
              <a:sym typeface="Arial"/>
            </a:endParaRPr>
          </a:p>
          <a:p>
            <a:pPr marL="0" lvl="0" indent="0" algn="l" rtl="0">
              <a:lnSpc>
                <a:spcPct val="130000"/>
              </a:lnSpc>
              <a:spcBef>
                <a:spcPts val="0"/>
              </a:spcBef>
              <a:spcAft>
                <a:spcPts val="0"/>
              </a:spcAft>
              <a:buClr>
                <a:schemeClr val="dk1"/>
              </a:buClr>
              <a:buSzPts val="2400"/>
              <a:buNone/>
            </a:pPr>
            <a:endParaRPr sz="1200">
              <a:latin typeface="Arial"/>
              <a:ea typeface="Arial"/>
              <a:cs typeface="Arial"/>
              <a:sym typeface="Arial"/>
            </a:endParaRPr>
          </a:p>
          <a:p>
            <a:pPr marL="0" lvl="0" indent="0" algn="l" rtl="0">
              <a:lnSpc>
                <a:spcPct val="130000"/>
              </a:lnSpc>
              <a:spcBef>
                <a:spcPts val="0"/>
              </a:spcBef>
              <a:spcAft>
                <a:spcPts val="0"/>
              </a:spcAft>
              <a:buClr>
                <a:schemeClr val="dk1"/>
              </a:buClr>
              <a:buSzPts val="2400"/>
              <a:buNone/>
            </a:pPr>
            <a:endParaRPr sz="1200" b="1">
              <a:latin typeface="Arial"/>
              <a:ea typeface="Arial"/>
              <a:cs typeface="Arial"/>
              <a:sym typeface="Arial"/>
            </a:endParaRPr>
          </a:p>
          <a:p>
            <a:pPr marL="0" lvl="0" indent="0" algn="l" rtl="0">
              <a:lnSpc>
                <a:spcPct val="130000"/>
              </a:lnSpc>
              <a:spcBef>
                <a:spcPts val="0"/>
              </a:spcBef>
              <a:spcAft>
                <a:spcPts val="0"/>
              </a:spcAft>
              <a:buClr>
                <a:schemeClr val="dk1"/>
              </a:buClr>
              <a:buSzPts val="2400"/>
              <a:buNone/>
            </a:pPr>
            <a:endParaRPr sz="1200" b="1">
              <a:latin typeface="Arial"/>
              <a:ea typeface="Arial"/>
              <a:cs typeface="Arial"/>
              <a:sym typeface="Arial"/>
            </a:endParaRPr>
          </a:p>
          <a:p>
            <a:pPr marL="0" lvl="0" indent="0" algn="l" rtl="0">
              <a:lnSpc>
                <a:spcPct val="130000"/>
              </a:lnSpc>
              <a:spcBef>
                <a:spcPts val="0"/>
              </a:spcBef>
              <a:spcAft>
                <a:spcPts val="0"/>
              </a:spcAft>
              <a:buClr>
                <a:schemeClr val="dk1"/>
              </a:buClr>
              <a:buSzPts val="2400"/>
              <a:buNone/>
            </a:pPr>
            <a:endParaRPr sz="1200"/>
          </a:p>
        </p:txBody>
      </p:sp>
      <p:sp>
        <p:nvSpPr>
          <p:cNvPr id="170" name="Google Shape;170;g3a0fbd53754_0_35"/>
          <p:cNvSpPr txBox="1"/>
          <p:nvPr/>
        </p:nvSpPr>
        <p:spPr>
          <a:xfrm>
            <a:off x="174595" y="119525"/>
            <a:ext cx="11703900" cy="163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cap="none">
                <a:solidFill>
                  <a:srgbClr val="FF0000"/>
                </a:solidFill>
                <a:latin typeface="Calibri"/>
                <a:ea typeface="Calibri"/>
                <a:cs typeface="Calibri"/>
                <a:sym typeface="Calibri"/>
              </a:rPr>
              <a:t>                              International Conference on Advanced Systems and Emerging Technologies- ICASET 2025</a:t>
            </a:r>
            <a:endParaRPr/>
          </a:p>
          <a:p>
            <a:pPr marL="0" marR="0" lvl="0" indent="0" algn="ctr" rtl="0">
              <a:spcBef>
                <a:spcPts val="0"/>
              </a:spcBef>
              <a:spcAft>
                <a:spcPts val="0"/>
              </a:spcAft>
              <a:buNone/>
            </a:pPr>
            <a:r>
              <a:rPr lang="en-IN" sz="2400" b="1" i="0" u="none" strike="noStrike" cap="none">
                <a:solidFill>
                  <a:srgbClr val="0070C0"/>
                </a:solidFill>
                <a:latin typeface="Calibri"/>
                <a:ea typeface="Calibri"/>
                <a:cs typeface="Calibri"/>
                <a:sym typeface="Calibri"/>
              </a:rPr>
              <a:t>06</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-07</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November 2025</a:t>
            </a:r>
            <a:endParaRPr/>
          </a:p>
          <a:p>
            <a:pPr marL="0" marR="0" lvl="0" indent="0" algn="ctr" rtl="0">
              <a:spcBef>
                <a:spcPts val="0"/>
              </a:spcBef>
              <a:spcAft>
                <a:spcPts val="0"/>
              </a:spcAft>
              <a:buNone/>
            </a:pPr>
            <a:endParaRPr sz="2800" b="0" i="0" u="none" strike="noStrike" cap="none">
              <a:solidFill>
                <a:srgbClr val="FF0000"/>
              </a:solidFill>
              <a:latin typeface="Calibri"/>
              <a:ea typeface="Calibri"/>
              <a:cs typeface="Calibri"/>
              <a:sym typeface="Calibri"/>
            </a:endParaRPr>
          </a:p>
        </p:txBody>
      </p:sp>
      <p:pic>
        <p:nvPicPr>
          <p:cNvPr id="171" name="Google Shape;171;g3a0fbd53754_0_35"/>
          <p:cNvPicPr preferRelativeResize="0"/>
          <p:nvPr/>
        </p:nvPicPr>
        <p:blipFill rotWithShape="1">
          <a:blip r:embed="rId3">
            <a:alphaModFix/>
          </a:blip>
          <a:srcRect/>
          <a:stretch/>
        </p:blipFill>
        <p:spPr>
          <a:xfrm>
            <a:off x="0" y="0"/>
            <a:ext cx="2849336" cy="112667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0fbd53754_0_72"/>
          <p:cNvSpPr txBox="1">
            <a:spLocks noGrp="1"/>
          </p:cNvSpPr>
          <p:nvPr>
            <p:ph type="subTitle" idx="1"/>
          </p:nvPr>
        </p:nvSpPr>
        <p:spPr>
          <a:xfrm>
            <a:off x="461639" y="1733550"/>
            <a:ext cx="11407800" cy="4658400"/>
          </a:xfrm>
          <a:prstGeom prst="rect">
            <a:avLst/>
          </a:prstGeom>
          <a:noFill/>
          <a:ln>
            <a:noFill/>
          </a:ln>
        </p:spPr>
        <p:txBody>
          <a:bodyPr spcFirstLastPara="1" wrap="square" lIns="91425" tIns="45700" rIns="91425" bIns="45700" anchor="t" anchorCtr="0">
            <a:normAutofit fontScale="92500"/>
          </a:bodyPr>
          <a:lstStyle/>
          <a:p>
            <a:pPr marL="0" lvl="0" indent="0" algn="l" rtl="0">
              <a:lnSpc>
                <a:spcPct val="130000"/>
              </a:lnSpc>
              <a:spcBef>
                <a:spcPts val="1000"/>
              </a:spcBef>
              <a:spcAft>
                <a:spcPts val="0"/>
              </a:spcAft>
              <a:buClr>
                <a:schemeClr val="dk1"/>
              </a:buClr>
              <a:buSzPts val="688"/>
              <a:buFont typeface="Arial"/>
              <a:buNone/>
            </a:pPr>
            <a:r>
              <a:rPr lang="en-IN" sz="1200">
                <a:latin typeface="Arial"/>
                <a:ea typeface="Arial"/>
                <a:cs typeface="Arial"/>
                <a:sym typeface="Arial"/>
              </a:rPr>
              <a:t>[17]	V. Chang, K. Hall, Q. A. Xu, F. O. Amao, M. A. Ganatra, and V. Benson, “Prediction of Customer Churn Behavior in the Telecommunication Industry Using Machine Learning Models,” Algorithms 2024, Vol. 17, Page 231, vol. 17, no. 6, p. 231, May 2024, doi: 10.3390/A17060231.</a:t>
            </a:r>
            <a:endParaRPr sz="1200">
              <a:latin typeface="Arial"/>
              <a:ea typeface="Arial"/>
              <a:cs typeface="Arial"/>
              <a:sym typeface="Arial"/>
            </a:endParaRPr>
          </a:p>
          <a:p>
            <a:pPr marL="0" lvl="0" indent="0" algn="l" rtl="0">
              <a:lnSpc>
                <a:spcPct val="130000"/>
              </a:lnSpc>
              <a:spcBef>
                <a:spcPts val="1000"/>
              </a:spcBef>
              <a:spcAft>
                <a:spcPts val="0"/>
              </a:spcAft>
              <a:buClr>
                <a:schemeClr val="dk1"/>
              </a:buClr>
              <a:buSzPts val="688"/>
              <a:buFont typeface="Arial"/>
              <a:buNone/>
            </a:pPr>
            <a:r>
              <a:rPr lang="en-IN" sz="1200">
                <a:latin typeface="Arial"/>
                <a:ea typeface="Arial"/>
                <a:cs typeface="Arial"/>
                <a:sym typeface="Arial"/>
              </a:rPr>
              <a:t>[18]	S. Ouf, K. T. Mahmoud, and M. A. Abdel-Fattah, “A proposed hybrid framework to improve the accuracy of customer churn prediction in telecom industry,” J Big Data, vol. 11, no. 1, pp. 1–27, Dec. 2024, doi: 10.1186/S40537-024-00922-9/TABLES/9.</a:t>
            </a:r>
            <a:endParaRPr sz="1200">
              <a:latin typeface="Arial"/>
              <a:ea typeface="Arial"/>
              <a:cs typeface="Arial"/>
              <a:sym typeface="Arial"/>
            </a:endParaRPr>
          </a:p>
          <a:p>
            <a:pPr marL="0" lvl="0" indent="0" algn="l" rtl="0">
              <a:lnSpc>
                <a:spcPct val="130000"/>
              </a:lnSpc>
              <a:spcBef>
                <a:spcPts val="1000"/>
              </a:spcBef>
              <a:spcAft>
                <a:spcPts val="0"/>
              </a:spcAft>
              <a:buClr>
                <a:schemeClr val="dk1"/>
              </a:buClr>
              <a:buSzPts val="688"/>
              <a:buFont typeface="Arial"/>
              <a:buNone/>
            </a:pPr>
            <a:r>
              <a:rPr lang="en-IN" sz="1200">
                <a:latin typeface="Arial"/>
                <a:ea typeface="Arial"/>
                <a:cs typeface="Arial"/>
                <a:sym typeface="Arial"/>
              </a:rPr>
              <a:t>[19]	A. K. Ahmad, A. Jafar, and K. Aljoumaa, “Customer churn prediction in telecom using machine learning in big data platform,” J Big Data, vol. 6, no. 1, pp. 1–24, Dec. 2019, doi: 10.1186/S40537-019-0191-6/TABLES/4.</a:t>
            </a:r>
            <a:endParaRPr sz="1200">
              <a:latin typeface="Arial"/>
              <a:ea typeface="Arial"/>
              <a:cs typeface="Arial"/>
              <a:sym typeface="Arial"/>
            </a:endParaRPr>
          </a:p>
          <a:p>
            <a:pPr marL="0" lvl="0" indent="0" algn="l" rtl="0">
              <a:lnSpc>
                <a:spcPct val="130000"/>
              </a:lnSpc>
              <a:spcBef>
                <a:spcPts val="1000"/>
              </a:spcBef>
              <a:spcAft>
                <a:spcPts val="0"/>
              </a:spcAft>
              <a:buClr>
                <a:schemeClr val="dk1"/>
              </a:buClr>
              <a:buSzPts val="688"/>
              <a:buFont typeface="Arial"/>
              <a:buNone/>
            </a:pPr>
            <a:r>
              <a:rPr lang="en-IN" sz="1200">
                <a:latin typeface="Arial"/>
                <a:ea typeface="Arial"/>
                <a:cs typeface="Arial"/>
                <a:sym typeface="Arial"/>
              </a:rPr>
              <a:t>[20]	N. V. Chawla, K. W. Bowyer, L. O. Hall, and W. P. Kegelmeyer, “SMOTE: Synthetic Minority Over-sampling Technique,” Journal of Artificial Intelligence Research, vol. 16, pp. 321–357, Jun. 2002, doi: 10.1613/JAIR.953.</a:t>
            </a:r>
            <a:endParaRPr sz="1200">
              <a:latin typeface="Arial"/>
              <a:ea typeface="Arial"/>
              <a:cs typeface="Arial"/>
              <a:sym typeface="Arial"/>
            </a:endParaRPr>
          </a:p>
          <a:p>
            <a:pPr marL="0" lvl="0" indent="0" algn="l" rtl="0">
              <a:lnSpc>
                <a:spcPct val="130000"/>
              </a:lnSpc>
              <a:spcBef>
                <a:spcPts val="1000"/>
              </a:spcBef>
              <a:spcAft>
                <a:spcPts val="0"/>
              </a:spcAft>
              <a:buClr>
                <a:schemeClr val="dk1"/>
              </a:buClr>
              <a:buSzPts val="688"/>
              <a:buFont typeface="Arial"/>
              <a:buNone/>
            </a:pPr>
            <a:r>
              <a:rPr lang="en-IN" sz="1200">
                <a:latin typeface="Arial"/>
                <a:ea typeface="Arial"/>
                <a:cs typeface="Arial"/>
                <a:sym typeface="Arial"/>
              </a:rPr>
              <a:t>[21]	T. Xu, Y. Ma, C. Ao, M. Qu, and X. Meng, “A Novel Telecom Customer Churn Analysis System Based on RFM Model and Feature Importance Ranking”, doi: 10.28945/5192.</a:t>
            </a:r>
            <a:endParaRPr sz="1200">
              <a:latin typeface="Arial"/>
              <a:ea typeface="Arial"/>
              <a:cs typeface="Arial"/>
              <a:sym typeface="Arial"/>
            </a:endParaRPr>
          </a:p>
          <a:p>
            <a:pPr marL="0" lvl="0" indent="0" algn="l" rtl="0">
              <a:lnSpc>
                <a:spcPct val="130000"/>
              </a:lnSpc>
              <a:spcBef>
                <a:spcPts val="1000"/>
              </a:spcBef>
              <a:spcAft>
                <a:spcPts val="0"/>
              </a:spcAft>
              <a:buClr>
                <a:schemeClr val="dk1"/>
              </a:buClr>
              <a:buSzPts val="688"/>
              <a:buFont typeface="Arial"/>
              <a:buNone/>
            </a:pPr>
            <a:r>
              <a:rPr lang="en-IN" sz="1200">
                <a:latin typeface="Arial"/>
                <a:ea typeface="Arial"/>
                <a:cs typeface="Arial"/>
                <a:sym typeface="Arial"/>
              </a:rPr>
              <a:t>[22]	L. Breiman, “Random forests,” Mach Learn, vol. 45, no. 1, pp. 5–32, Oct. 2001, doi: 10.1023/A:1010933404324/METRICS.</a:t>
            </a:r>
            <a:endParaRPr sz="1200">
              <a:latin typeface="Arial"/>
              <a:ea typeface="Arial"/>
              <a:cs typeface="Arial"/>
              <a:sym typeface="Arial"/>
            </a:endParaRPr>
          </a:p>
          <a:p>
            <a:pPr marL="0" lvl="0" indent="0" algn="l" rtl="0">
              <a:lnSpc>
                <a:spcPct val="130000"/>
              </a:lnSpc>
              <a:spcBef>
                <a:spcPts val="1000"/>
              </a:spcBef>
              <a:spcAft>
                <a:spcPts val="0"/>
              </a:spcAft>
              <a:buClr>
                <a:schemeClr val="dk1"/>
              </a:buClr>
              <a:buSzPts val="688"/>
              <a:buFont typeface="Arial"/>
              <a:buNone/>
            </a:pPr>
            <a:r>
              <a:rPr lang="en-IN" sz="1200">
                <a:latin typeface="Arial"/>
                <a:ea typeface="Arial"/>
                <a:cs typeface="Arial"/>
                <a:sym typeface="Arial"/>
              </a:rPr>
              <a:t>[23]	T. Chen and C. Guestrin, “XGBoost: A scalable tree boosting system,” Proceedings of the ACM SIGKDD International Conference on Knowledge Discovery and Data Mining, vol. 13-17-August-2016, pp. 785–794, Aug. 2016, doi: 10.1145/2939672.2939785/SUPPL_FILE/KDD2016_CHEN_BOOSTING_SYSTEM_01-ACM.MP4.</a:t>
            </a:r>
            <a:endParaRPr sz="1200">
              <a:latin typeface="Arial"/>
              <a:ea typeface="Arial"/>
              <a:cs typeface="Arial"/>
              <a:sym typeface="Arial"/>
            </a:endParaRPr>
          </a:p>
          <a:p>
            <a:pPr marL="0" lvl="0" indent="0" algn="l" rtl="0">
              <a:lnSpc>
                <a:spcPct val="130000"/>
              </a:lnSpc>
              <a:spcBef>
                <a:spcPts val="1000"/>
              </a:spcBef>
              <a:spcAft>
                <a:spcPts val="0"/>
              </a:spcAft>
              <a:buClr>
                <a:schemeClr val="dk1"/>
              </a:buClr>
              <a:buSzPts val="688"/>
              <a:buFont typeface="Arial"/>
              <a:buNone/>
            </a:pPr>
            <a:r>
              <a:rPr lang="en-IN" sz="1200">
                <a:latin typeface="Arial"/>
                <a:ea typeface="Arial"/>
                <a:cs typeface="Arial"/>
                <a:sym typeface="Arial"/>
              </a:rPr>
              <a:t>[24]	Y. Lecun, Y. Bengio, and G. Hinton, “Deep learning,” Nature, vol. 521, no. 7553, pp. 436–444, May 2015, doi: 10.1038/NATURE14539;SUBJMETA=117,639,705;KWRD=COMPUTER+SCIENCE,MATHEMATICS+AND+COMPUTING.</a:t>
            </a:r>
            <a:endParaRPr sz="1200">
              <a:latin typeface="Arial"/>
              <a:ea typeface="Arial"/>
              <a:cs typeface="Arial"/>
              <a:sym typeface="Arial"/>
            </a:endParaRPr>
          </a:p>
          <a:p>
            <a:pPr marL="0" lvl="0" indent="0" algn="l" rtl="0">
              <a:lnSpc>
                <a:spcPct val="130000"/>
              </a:lnSpc>
              <a:spcBef>
                <a:spcPts val="1000"/>
              </a:spcBef>
              <a:spcAft>
                <a:spcPts val="0"/>
              </a:spcAft>
              <a:buClr>
                <a:schemeClr val="dk1"/>
              </a:buClr>
              <a:buSzPts val="688"/>
              <a:buFont typeface="Arial"/>
              <a:buNone/>
            </a:pPr>
            <a:r>
              <a:rPr lang="en-IN" sz="1200">
                <a:latin typeface="Arial"/>
                <a:ea typeface="Arial"/>
                <a:cs typeface="Arial"/>
                <a:sym typeface="Arial"/>
              </a:rPr>
              <a:t>[25]	T. Fawcett, “An introduction to ROC analysis,” Pattern Recognit Lett, vol. 27, no. 8, pp. 861–874, Jun. 2006, doi: 10.1016/J.PATREC.2005.10.010.</a:t>
            </a:r>
            <a:endParaRPr sz="1200">
              <a:latin typeface="Arial"/>
              <a:ea typeface="Arial"/>
              <a:cs typeface="Arial"/>
              <a:sym typeface="Arial"/>
            </a:endParaRPr>
          </a:p>
          <a:p>
            <a:pPr marL="0" lvl="0" indent="0" algn="l" rtl="0">
              <a:lnSpc>
                <a:spcPct val="70000"/>
              </a:lnSpc>
              <a:spcBef>
                <a:spcPts val="1000"/>
              </a:spcBef>
              <a:spcAft>
                <a:spcPts val="0"/>
              </a:spcAft>
              <a:buClr>
                <a:schemeClr val="dk1"/>
              </a:buClr>
              <a:buSzPts val="1500"/>
              <a:buNone/>
            </a:pPr>
            <a:endParaRPr sz="1500">
              <a:latin typeface="Comic Sans MS"/>
              <a:ea typeface="Comic Sans MS"/>
              <a:cs typeface="Comic Sans MS"/>
              <a:sym typeface="Comic Sans MS"/>
            </a:endParaRPr>
          </a:p>
        </p:txBody>
      </p:sp>
      <p:sp>
        <p:nvSpPr>
          <p:cNvPr id="177" name="Google Shape;177;g3a0fbd53754_0_72"/>
          <p:cNvSpPr txBox="1"/>
          <p:nvPr/>
        </p:nvSpPr>
        <p:spPr>
          <a:xfrm>
            <a:off x="174595" y="119525"/>
            <a:ext cx="11703900" cy="163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cap="none">
                <a:solidFill>
                  <a:srgbClr val="FF0000"/>
                </a:solidFill>
                <a:latin typeface="Calibri"/>
                <a:ea typeface="Calibri"/>
                <a:cs typeface="Calibri"/>
                <a:sym typeface="Calibri"/>
              </a:rPr>
              <a:t>                              International Conference on Advanced Systems and Emerging Technologies- ICASET 2025</a:t>
            </a:r>
            <a:endParaRPr/>
          </a:p>
          <a:p>
            <a:pPr marL="0" marR="0" lvl="0" indent="0" algn="ctr" rtl="0">
              <a:spcBef>
                <a:spcPts val="0"/>
              </a:spcBef>
              <a:spcAft>
                <a:spcPts val="0"/>
              </a:spcAft>
              <a:buNone/>
            </a:pPr>
            <a:r>
              <a:rPr lang="en-IN" sz="2400" b="1" i="0" u="none" strike="noStrike" cap="none">
                <a:solidFill>
                  <a:srgbClr val="0070C0"/>
                </a:solidFill>
                <a:latin typeface="Calibri"/>
                <a:ea typeface="Calibri"/>
                <a:cs typeface="Calibri"/>
                <a:sym typeface="Calibri"/>
              </a:rPr>
              <a:t>06</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-07</a:t>
            </a:r>
            <a:r>
              <a:rPr lang="en-IN" sz="2400" b="1" i="0" u="none" strike="noStrike" cap="none" baseline="30000">
                <a:solidFill>
                  <a:srgbClr val="0070C0"/>
                </a:solidFill>
                <a:latin typeface="Calibri"/>
                <a:ea typeface="Calibri"/>
                <a:cs typeface="Calibri"/>
                <a:sym typeface="Calibri"/>
              </a:rPr>
              <a:t>th</a:t>
            </a:r>
            <a:r>
              <a:rPr lang="en-IN" sz="2400" b="1" i="0" u="none" strike="noStrike" cap="none">
                <a:solidFill>
                  <a:srgbClr val="0070C0"/>
                </a:solidFill>
                <a:latin typeface="Calibri"/>
                <a:ea typeface="Calibri"/>
                <a:cs typeface="Calibri"/>
                <a:sym typeface="Calibri"/>
              </a:rPr>
              <a:t>  November 2025</a:t>
            </a:r>
            <a:endParaRPr/>
          </a:p>
          <a:p>
            <a:pPr marL="0" marR="0" lvl="0" indent="0" algn="ctr" rtl="0">
              <a:spcBef>
                <a:spcPts val="0"/>
              </a:spcBef>
              <a:spcAft>
                <a:spcPts val="0"/>
              </a:spcAft>
              <a:buNone/>
            </a:pPr>
            <a:endParaRPr sz="2800" b="0" i="0" u="none" strike="noStrike" cap="none">
              <a:solidFill>
                <a:srgbClr val="FF0000"/>
              </a:solidFill>
              <a:latin typeface="Calibri"/>
              <a:ea typeface="Calibri"/>
              <a:cs typeface="Calibri"/>
              <a:sym typeface="Calibri"/>
            </a:endParaRPr>
          </a:p>
        </p:txBody>
      </p:sp>
      <p:pic>
        <p:nvPicPr>
          <p:cNvPr id="178" name="Google Shape;178;g3a0fbd53754_0_72"/>
          <p:cNvPicPr preferRelativeResize="0"/>
          <p:nvPr/>
        </p:nvPicPr>
        <p:blipFill rotWithShape="1">
          <a:blip r:embed="rId3">
            <a:alphaModFix/>
          </a:blip>
          <a:srcRect/>
          <a:stretch/>
        </p:blipFill>
        <p:spPr>
          <a:xfrm>
            <a:off x="0" y="0"/>
            <a:ext cx="2849336" cy="112667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2318</Words>
  <Application>Microsoft Office PowerPoint</Application>
  <PresentationFormat>Widescreen</PresentationFormat>
  <Paragraphs>140</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Comic Sans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MOOLCHAND SHARMA</dc:creator>
  <cp:lastModifiedBy>Diwakar Sherawat</cp:lastModifiedBy>
  <cp:revision>3</cp:revision>
  <dcterms:created xsi:type="dcterms:W3CDTF">2021-02-05T14:09:33Z</dcterms:created>
  <dcterms:modified xsi:type="dcterms:W3CDTF">2025-11-08T18:10:11Z</dcterms:modified>
</cp:coreProperties>
</file>